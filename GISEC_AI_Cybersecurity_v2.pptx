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97c07c94995450e" /><Relationship Type="http://schemas.openxmlformats.org/officeDocument/2006/relationships/extended-properties" Target="/docProps/app.xml" Id="R7ef0130e47124496" /><Relationship Type="http://schemas.openxmlformats.org/officeDocument/2006/relationships/officeDocument" Target="/ppt/presentation.xml" Id="Rf6f4927feb864b57" /></Relationships>
</file>

<file path=ppt/presentation.xml><?xml version="1.0" encoding="utf-8"?>
<p:presentation xmlns:p="http://schemas.openxmlformats.org/presentationml/2006/main">
  <p:sldMasterIdLst>
    <p:sldMasterId xmlns:r="http://schemas.openxmlformats.org/officeDocument/2006/relationships" id="2147483648" r:id="Ra0f0d972582f4fb3"/>
  </p:sldMasterIdLst>
  <p:notesMasterIdLst>
    <p:notesMasterId xmlns:r="http://schemas.openxmlformats.org/officeDocument/2006/relationships" r:id="R591e4cc0499243f2"/>
  </p:notesMasterIdLst>
  <p:sldIdLst>
    <p:sldId xmlns:r="http://schemas.openxmlformats.org/officeDocument/2006/relationships" id="256" r:id="R6be8931aec0243df"/>
    <p:sldId xmlns:r="http://schemas.openxmlformats.org/officeDocument/2006/relationships" id="257" r:id="Rceecf5d0311e49ac"/>
    <p:sldId xmlns:r="http://schemas.openxmlformats.org/officeDocument/2006/relationships" id="258" r:id="Re4bc51aa02c14feb"/>
    <p:sldId xmlns:r="http://schemas.openxmlformats.org/officeDocument/2006/relationships" id="259" r:id="R3909c87e7bbc4965"/>
    <p:sldId xmlns:r="http://schemas.openxmlformats.org/officeDocument/2006/relationships" id="260" r:id="Rfc5ac7cba5fb4168"/>
    <p:sldId xmlns:r="http://schemas.openxmlformats.org/officeDocument/2006/relationships" id="261" r:id="Re354fba7569a4f53"/>
    <p:sldId xmlns:r="http://schemas.openxmlformats.org/officeDocument/2006/relationships" id="262" r:id="Rbbd387410b8f4038"/>
    <p:sldId xmlns:r="http://schemas.openxmlformats.org/officeDocument/2006/relationships" id="263" r:id="Rfad868b1834a4659"/>
    <p:sldId xmlns:r="http://schemas.openxmlformats.org/officeDocument/2006/relationships" id="264" r:id="R18ea3e16b6304cb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4223710f23c4e1c" /><Relationship Type="http://schemas.openxmlformats.org/officeDocument/2006/relationships/slideMaster" Target="/ppt/slideMasters/slideMaster1.xml" Id="Ra0f0d972582f4fb3" /><Relationship Type="http://schemas.openxmlformats.org/officeDocument/2006/relationships/notesMaster" Target="/ppt/notesMasters/notesMaster1.xml" Id="R591e4cc0499243f2" /><Relationship Type="http://schemas.openxmlformats.org/officeDocument/2006/relationships/presProps" Target="/ppt/presProps.xml" Id="R78ce91b8e2944f5b" /><Relationship Type="http://schemas.openxmlformats.org/officeDocument/2006/relationships/tableStyles" Target="/ppt/tableStyles.xml" Id="R4803cdf2e8704ed6" /><Relationship Type="http://schemas.openxmlformats.org/officeDocument/2006/relationships/slide" Target="/ppt/slides/slide1.xml" Id="R6be8931aec0243df" /><Relationship Type="http://schemas.openxmlformats.org/officeDocument/2006/relationships/slide" Target="/ppt/slides/slide2.xml" Id="Rceecf5d0311e49ac" /><Relationship Type="http://schemas.openxmlformats.org/officeDocument/2006/relationships/slide" Target="/ppt/slides/slide3.xml" Id="Re4bc51aa02c14feb" /><Relationship Type="http://schemas.openxmlformats.org/officeDocument/2006/relationships/slide" Target="/ppt/slides/slide4.xml" Id="R3909c87e7bbc4965" /><Relationship Type="http://schemas.openxmlformats.org/officeDocument/2006/relationships/slide" Target="/ppt/slides/slide5.xml" Id="Rfc5ac7cba5fb4168" /><Relationship Type="http://schemas.openxmlformats.org/officeDocument/2006/relationships/slide" Target="/ppt/slides/slide6.xml" Id="Re354fba7569a4f53" /><Relationship Type="http://schemas.openxmlformats.org/officeDocument/2006/relationships/slide" Target="/ppt/slides/slide7.xml" Id="Rbbd387410b8f4038" /><Relationship Type="http://schemas.openxmlformats.org/officeDocument/2006/relationships/slide" Target="/ppt/slides/slide8.xml" Id="Rfad868b1834a4659" /><Relationship Type="http://schemas.openxmlformats.org/officeDocument/2006/relationships/slide" Target="/ppt/slides/slide9.xml" Id="R18ea3e16b6304cb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87c1203c2a3465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cd9ec926cb84f85" /><Relationship Type="http://schemas.openxmlformats.org/officeDocument/2006/relationships/notesMaster" Target="/ppt/notesMasters/notesMaster1.xml" Id="R37ee711f606647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c5ac19460cea4265" /><Relationship Type="http://schemas.openxmlformats.org/officeDocument/2006/relationships/notesMaster" Target="/ppt/notesMasters/notesMaster1.xml" Id="Redc71115999e4575" /></Relationships>
</file>

<file path=ppt/notesSlides/_rels/notesSlide3.xml.rels>&#65279;<?xml version="1.0" encoding="utf-8"?><Relationships xmlns="http://schemas.openxmlformats.org/package/2006/relationships"><Relationship Type="http://schemas.openxmlformats.org/officeDocument/2006/relationships/slide" Target="/ppt/slides/slide3.xml" Id="R11fe4e1c57e54f41" /><Relationship Type="http://schemas.openxmlformats.org/officeDocument/2006/relationships/notesMaster" Target="/ppt/notesMasters/notesMaster1.xml" Id="Rad0026a81a784b27" /></Relationships>
</file>

<file path=ppt/notesSlides/_rels/notesSlide4.xml.rels>&#65279;<?xml version="1.0" encoding="utf-8"?><Relationships xmlns="http://schemas.openxmlformats.org/package/2006/relationships"><Relationship Type="http://schemas.openxmlformats.org/officeDocument/2006/relationships/slide" Target="/ppt/slides/slide4.xml" Id="R0e322992c57346cc" /><Relationship Type="http://schemas.openxmlformats.org/officeDocument/2006/relationships/notesMaster" Target="/ppt/notesMasters/notesMaster1.xml" Id="Rd4acc5a1860f45ff" /></Relationships>
</file>

<file path=ppt/notesSlides/_rels/notesSlide5.xml.rels>&#65279;<?xml version="1.0" encoding="utf-8"?><Relationships xmlns="http://schemas.openxmlformats.org/package/2006/relationships"><Relationship Type="http://schemas.openxmlformats.org/officeDocument/2006/relationships/slide" Target="/ppt/slides/slide5.xml" Id="R5b9290a821404ade" /><Relationship Type="http://schemas.openxmlformats.org/officeDocument/2006/relationships/notesMaster" Target="/ppt/notesMasters/notesMaster1.xml" Id="R01d9de3d73ac43bf" /></Relationships>
</file>

<file path=ppt/notesSlides/_rels/notesSlide6.xml.rels>&#65279;<?xml version="1.0" encoding="utf-8"?><Relationships xmlns="http://schemas.openxmlformats.org/package/2006/relationships"><Relationship Type="http://schemas.openxmlformats.org/officeDocument/2006/relationships/slide" Target="/ppt/slides/slide6.xml" Id="R6488050fa5014bbe" /><Relationship Type="http://schemas.openxmlformats.org/officeDocument/2006/relationships/notesMaster" Target="/ppt/notesMasters/notesMaster1.xml" Id="R38405fa18f354069" /></Relationships>
</file>

<file path=ppt/notesSlides/_rels/notesSlide7.xml.rels>&#65279;<?xml version="1.0" encoding="utf-8"?><Relationships xmlns="http://schemas.openxmlformats.org/package/2006/relationships"><Relationship Type="http://schemas.openxmlformats.org/officeDocument/2006/relationships/slide" Target="/ppt/slides/slide7.xml" Id="Ra3bdb64d073d4f6a" /><Relationship Type="http://schemas.openxmlformats.org/officeDocument/2006/relationships/notesMaster" Target="/ppt/notesMasters/notesMaster1.xml" Id="Rabb78b5f45204799" /></Relationships>
</file>

<file path=ppt/notesSlides/_rels/notesSlide8.xml.rels>&#65279;<?xml version="1.0" encoding="utf-8"?><Relationships xmlns="http://schemas.openxmlformats.org/package/2006/relationships"><Relationship Type="http://schemas.openxmlformats.org/officeDocument/2006/relationships/slide" Target="/ppt/slides/slide8.xml" Id="R76d0485af8c1413a" /><Relationship Type="http://schemas.openxmlformats.org/officeDocument/2006/relationships/notesMaster" Target="/ppt/notesMasters/notesMaster1.xml" Id="Rca3b54a9c6734703" /></Relationships>
</file>

<file path=ppt/notesSlides/_rels/notesSlide9.xml.rels>&#65279;<?xml version="1.0" encoding="utf-8"?><Relationships xmlns="http://schemas.openxmlformats.org/package/2006/relationships"><Relationship Type="http://schemas.openxmlformats.org/officeDocument/2006/relationships/slide" Target="/ppt/slides/slide9.xml" Id="Rd793a57e40ab4ef6" /><Relationship Type="http://schemas.openxmlformats.org/officeDocument/2006/relationships/notesMaster" Target="/ppt/notesMasters/notesMaster1.xml" Id="R9680316f3d9948b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introduction: GISEC highlighted how AI changes application development and security testing. This section focuses on the concepts behind the demonstrations, then transitions into PQC. Approximate speaking time: 8–10 minutes, or 5–6 minutes with brief explanations.</a:t>
            </a:r>
          </a:p>
          <a:p xmlns:a="http://schemas.openxmlformats.org/drawingml/2006/main">
            <a:r>
              <a:t/>
            </a:r>
          </a:p>
          <a:p xmlns:a="http://schemas.openxmlformats.org/drawingml/2006/main">
            <a:r>
              <a:t>Sources: Presenter-supplied GISEC photos.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distinction between AI helping developers, AI helping defenders, and AI becoming part of the application. These roles overlap. Generated code still needs review and testing. AI-powered applications still need ordinary authentication, authorization and input handling.</a:t>
            </a:r>
          </a:p>
          <a:p xmlns:a="http://schemas.openxmlformats.org/drawingml/2006/main">
            <a:r>
              <a:t/>
            </a:r>
          </a:p>
          <a:p xmlns:a="http://schemas.openxmlformats.org/drawingml/2006/main">
            <a:r>
              <a:t>Sources: Supplied lifecycle and Securing AI screenshots. OWASP: https://genai.owasp.org/llm-top-10/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SAST means Static Application Security Testing. SCA means Software Composition Analysis. The talk argued for combining established tools with LLM analysis. Avoid absolute claims that scanners cover every line or that LLMs always produce more false positives. Both methods have coverage limits. AI output is a hypothesis until the team validates it.</a:t>
            </a:r>
          </a:p>
          <a:p xmlns:a="http://schemas.openxmlformats.org/drawingml/2006/main">
            <a:r>
              <a:t/>
            </a:r>
          </a:p>
          <a:p xmlns:a="http://schemas.openxmlformats.org/drawingml/2006/main">
            <a:r>
              <a:t>Sources: Presenter photo 1000076378.jpg, GISEC talk.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Prompt injection occurs when attacker-controlled input steers model behavior. Indirect injection can arrive through retrieved documents or tool output. RAG means Retrieval-Augmented Generation. Separate sensitive data access from model reasoning, validate outputs and evaluate dependencies before installation. These examples describe possible risks, not inevitable failures.</a:t>
            </a:r>
          </a:p>
          <a:p xmlns:a="http://schemas.openxmlformats.org/drawingml/2006/main">
            <a:r>
              <a:t/>
            </a:r>
          </a:p>
          <a:p xmlns:a="http://schemas.openxmlformats.org/drawingml/2006/main">
            <a:r>
              <a:t>Sources: OWASP LLM risks: https://genai.owasp.org/llm-top-10/; presenter Securing AI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architecture. An agent may read content and act through APIs. A malicious document could attempt to make it send data outside the organization. Model instructions alone are insufficient authorization. Enforce permissions in tools and APIs, isolate credentials, and require approval for sensitive actions. MCP is a tool integration protocol, not an authorization mechanism.</a:t>
            </a:r>
          </a:p>
          <a:p xmlns:a="http://schemas.openxmlformats.org/drawingml/2006/main">
            <a:r>
              <a:t/>
            </a:r>
          </a:p>
          <a:p xmlns:a="http://schemas.openxmlformats.org/drawingml/2006/main">
            <a:r>
              <a:t>Sources: Photo 1000076560.jpg; OWASP excessive agency and prompt injection: https://genai.owasp.org/llm-top-10/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illustrative workflow inspired by the multi-agent demonstrations at GISEC, not a benchmark or guaranteed architecture. Specialized roles can divide work and challenge findings. Different models can still share errors, so agent agreement is not proof. Human review and reproducible evidence remain essential. Red/blue/green labels vary between vendors and are not a universal standard.</a:t>
            </a:r>
          </a:p>
          <a:p xmlns:a="http://schemas.openxmlformats.org/drawingml/2006/main">
            <a:r>
              <a:t/>
            </a:r>
          </a:p>
          <a:p xmlns:a="http://schemas.openxmlformats.org/drawingml/2006/main">
            <a:r>
              <a:t>Sources: Presenter photos 1000076341.jpg and 1000078044.png.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Continuous testing means repeating a maintained set of adversarial and regression tests when the system changes and monitoring relevant behavior in production. It does not mean launching uncontrolled attacks against live systems. Combine application testing, access control checks and AI-specific abuse cases. Track successful unauthorized actions and data disclosure, not just whether the model refuses a prompt.</a:t>
            </a:r>
          </a:p>
          <a:p xmlns:a="http://schemas.openxmlformats.org/drawingml/2006/main">
            <a:r>
              <a:t/>
            </a:r>
          </a:p>
          <a:p xmlns:a="http://schemas.openxmlformats.org/drawingml/2006/main">
            <a:r>
              <a:t>Sources: Presenter Continuous AI Red Teaming screenshot; OWASP risk taxonomy: https://genai.owasp.org/llm-top-10/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GISEC talks raised concerns about disclosure volume and enrichment delays. The deck does not reproduce the photographed CVE counts or forecasts because their methodology was not provided. Use CNA/advisory data and multiple sources. CVSS is severity, KEV is evidence of exploitation in the wild, and EPSS is a probability of observed exploitation over the next 30 days. Neither EPSS nor a CVSS score alone measures organizational risk. AI can assist summarization and triage, while the team owns the prioritization decision.</a:t>
            </a:r>
          </a:p>
          <a:p xmlns:a="http://schemas.openxmlformats.org/drawingml/2006/main">
            <a:r>
              <a:t/>
            </a:r>
          </a:p>
          <a:p xmlns:a="http://schemas.openxmlformats.org/drawingml/2006/main">
            <a:r>
              <a:t>Sources: CISA KEV: https://www.cisa.gov/known-exploited-vulnerabilities-catalog; FIRST EPSS: https://www.first.org/epss/using-epss; presenter photos.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AI changes how we build, test and secure applications. Our main topic now shifts to the cryptographic foundations those applications rely on, and how we prepare for post-quantum cryptography. This is a divider for the main PQC presentation, not a full PQC section.</a:t>
            </a:r>
          </a:p>
          <a:p xmlns:a="http://schemas.openxmlformats.org/drawingml/2006/main">
            <a:r>
              <a:t/>
            </a:r>
          </a:p>
          <a:p xmlns:a="http://schemas.openxmlformats.org/drawingml/2006/main">
            <a:r>
              <a:t>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cabaa63226f4d2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fe77c87875e46c8" /><Relationship Type="http://schemas.openxmlformats.org/officeDocument/2006/relationships/slideLayout" Target="/ppt/slideLayouts/slideLayout1.xml" Id="R151affb7e986413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51affb7e98641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f832bdbb763470f" /><Relationship Type="http://schemas.openxmlformats.org/officeDocument/2006/relationships/image" Target="/ppt/media/image.jpeg" Id="R4701ba74591c4633" /><Relationship Type="http://schemas.openxmlformats.org/officeDocument/2006/relationships/notesSlide" Target="/ppt/notesSlides/notesSlide1.xml" Id="Rbd1f2ed4d36f42f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5eec2a261dc4ff3" /><Relationship Type="http://schemas.openxmlformats.org/officeDocument/2006/relationships/notesSlide" Target="/ppt/notesSlides/notesSlide2.xml" Id="Rd23d08fb977a405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70e1ae031f2442b" /><Relationship Type="http://schemas.openxmlformats.org/officeDocument/2006/relationships/notesSlide" Target="/ppt/notesSlides/notesSlide3.xml" Id="R246814b024ab46b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4800409664c4d9a" /><Relationship Type="http://schemas.openxmlformats.org/officeDocument/2006/relationships/notesSlide" Target="/ppt/notesSlides/notesSlide4.xml" Id="R88c088683491459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d2dc28ffa814e1e" /><Relationship Type="http://schemas.openxmlformats.org/officeDocument/2006/relationships/notesSlide" Target="/ppt/notesSlides/notesSlide5.xml" Id="Rddb9a122bd534f9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d89eae971384966" /><Relationship Type="http://schemas.openxmlformats.org/officeDocument/2006/relationships/notesSlide" Target="/ppt/notesSlides/notesSlide6.xml" Id="Rc601d82fec474f0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fb2fbfae9d7442f" /><Relationship Type="http://schemas.openxmlformats.org/officeDocument/2006/relationships/image" Target="/ppt/media/image2.jpeg" Id="R582d51a6b4a9419a" /><Relationship Type="http://schemas.openxmlformats.org/officeDocument/2006/relationships/notesSlide" Target="/ppt/notesSlides/notesSlide7.xml" Id="Rfa2dc1c027b549f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7267456bbb841c7" /><Relationship Type="http://schemas.openxmlformats.org/officeDocument/2006/relationships/image" Target="/ppt/media/image3.jpeg" Id="Rea12b59482114e13" /><Relationship Type="http://schemas.openxmlformats.org/officeDocument/2006/relationships/notesSlide" Target="/ppt/notesSlides/notesSlide8.xml" Id="R37ca1b2f6373410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1a51524cb104e30" /><Relationship Type="http://schemas.openxmlformats.org/officeDocument/2006/relationships/notesSlide" Target="/ppt/notesSlides/notesSlide9.xml" Id="R0770bef5ac744356" /></Relationships>
</file>

<file path=ppt/slides/slide1.xml><?xml version="1.0" encoding="utf-8"?>
<p:sld xmlns:p="http://schemas.openxmlformats.org/presentationml/2006/main">
  <p:cSld>
    <p:bg>
      <p:bgPr>
        <a:solidFill xmlns:a="http://schemas.openxmlformats.org/drawingml/2006/main">
          <a:srgbClr val="10182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712D672-4B3F-4D26-9B38-813C91042278}"/>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E5DEBB7F-18D8-488E-BA37-1D07AF10A6C3}"/>
              </a:ext>
            </a:extLst>
          </p:cNvPr>
          <p:cNvSpPr>
            <a:spLocks xmlns:a="http://schemas.openxmlformats.org/drawingml/2006/main" noGrp="1"/>
          </p:cNvSpPr>
          <p:nvPr/>
        </p:nvSpPr>
        <p:spPr>
          <a:xfrm xmlns:a="http://schemas.openxmlformats.org/drawingml/2006/main">
            <a:off x="11144250" y="62865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5C2D3"/>
                </a:solidFill>
                <a:latin typeface="DejaVu Sans"/>
                <a:ea typeface="DejaVu Sans"/>
                <a:cs typeface="DejaVu Sans"/>
              </a:defRPr>
            </a:pPr>
            <a:r>
              <a:rPr sz="1275" b="0">
                <a:solidFill>
                  <a:srgbClr val="B5C2D3"/>
                </a:solidFill>
                <a:latin typeface="DejaVu Sans"/>
                <a:ea typeface="DejaVu Sans"/>
                <a:cs typeface="DejaVu Sans"/>
              </a:rPr>
              <a:t>01</a:t>
            </a:r>
          </a:p>
        </p:txBody>
      </p:sp>
      <p:sp>
        <p:nvSpPr>
          <p:cNvPr id="3" name="">
            <a:extLst xmlns:a="http://schemas.openxmlformats.org/drawingml/2006/main">
              <a:ext uri="{FF2B5EF4-FFF2-40B4-BE49-F238E27FC236}">
                <a16:creationId xmlns:a16="http://schemas.microsoft.com/office/drawing/2014/main" id="{418D0A1B-EAF0-487D-BE09-0C2CDFCF0283}"/>
              </a:ext>
            </a:extLst>
          </p:cNvPr>
          <p:cNvSpPr>
            <a:spLocks xmlns:a="http://schemas.openxmlformats.org/drawingml/2006/main" noGrp="1"/>
          </p:cNvSpPr>
          <p:nvPr/>
        </p:nvSpPr>
        <p:spPr>
          <a:xfrm xmlns:a="http://schemas.openxmlformats.org/drawingml/2006/main">
            <a:off x="609600" y="1047750"/>
            <a:ext cx="619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2F5FA"/>
                </a:solidFill>
                <a:latin typeface="DejaVu Sans"/>
                <a:ea typeface="DejaVu Sans"/>
                <a:cs typeface="DejaVu Sans"/>
              </a:defRPr>
            </a:pPr>
            <a:r>
              <a:rPr sz="4800" b="1">
                <a:solidFill>
                  <a:srgbClr val="F2F5FA"/>
                </a:solidFill>
                <a:latin typeface="DejaVu Sans"/>
                <a:ea typeface="DejaVu Sans"/>
                <a:cs typeface="DejaVu Sans"/>
              </a:rPr>
              <a:t>AI &amp; cybersecurity</a:t>
            </a:r>
          </a:p>
        </p:txBody>
      </p:sp>
      <p:sp>
        <p:nvSpPr>
          <p:cNvPr id="4" name="">
            <a:extLst xmlns:a="http://schemas.openxmlformats.org/drawingml/2006/main">
              <a:ext uri="{FF2B5EF4-FFF2-40B4-BE49-F238E27FC236}">
                <a16:creationId xmlns:a16="http://schemas.microsoft.com/office/drawing/2014/main" id="{6508746B-4EB4-4ACD-A27F-3A65D15C9DC2}"/>
              </a:ext>
            </a:extLst>
          </p:cNvPr>
          <p:cNvSpPr>
            <a:spLocks xmlns:a="http://schemas.openxmlformats.org/drawingml/2006/main" noGrp="1"/>
          </p:cNvSpPr>
          <p:nvPr/>
        </p:nvSpPr>
        <p:spPr>
          <a:xfrm xmlns:a="http://schemas.openxmlformats.org/drawingml/2006/main">
            <a:off x="609600" y="2762250"/>
            <a:ext cx="6000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64E1DC"/>
                </a:solidFill>
                <a:latin typeface="DejaVu Sans"/>
                <a:ea typeface="DejaVu Sans"/>
                <a:cs typeface="DejaVu Sans"/>
              </a:defRPr>
            </a:pPr>
            <a:r>
              <a:rPr sz="2550" b="0">
                <a:solidFill>
                  <a:srgbClr val="64E1DC"/>
                </a:solidFill>
                <a:latin typeface="DejaVu Sans"/>
                <a:ea typeface="DejaVu Sans"/>
                <a:cs typeface="DejaVu Sans"/>
              </a:rPr>
              <a:t>Knowledge and observations</a:t>
            </a:r>
          </a:p>
          <a:p xmlns:a="http://schemas.openxmlformats.org/drawingml/2006/main">
            <a:pPr>
              <a:defRPr sz="2550" b="0">
                <a:solidFill>
                  <a:srgbClr val="64E1DC"/>
                </a:solidFill>
                <a:latin typeface="DejaVu Sans"/>
                <a:ea typeface="DejaVu Sans"/>
                <a:cs typeface="DejaVu Sans"/>
              </a:defRPr>
            </a:pPr>
            <a:r>
              <a:rPr sz="2550" b="0">
                <a:solidFill>
                  <a:srgbClr val="64E1DC"/>
                </a:solidFill>
                <a:latin typeface="DejaVu Sans"/>
                <a:ea typeface="DejaVu Sans"/>
                <a:cs typeface="DejaVu Sans"/>
              </a:rPr>
              <a:t>from GISEC 2026</a:t>
            </a:r>
          </a:p>
        </p:txBody>
      </p:sp>
      <p:sp>
        <p:nvSpPr>
          <p:cNvPr id="5" name="">
            <a:extLst xmlns:a="http://schemas.openxmlformats.org/drawingml/2006/main">
              <a:ext uri="{FF2B5EF4-FFF2-40B4-BE49-F238E27FC236}">
                <a16:creationId xmlns:a16="http://schemas.microsoft.com/office/drawing/2014/main" id="{0B8E2A79-2FAC-4F1E-A012-ABC1D146C09D}"/>
              </a:ext>
            </a:extLst>
          </p:cNvPr>
          <p:cNvSpPr>
            <a:spLocks xmlns:a="http://schemas.openxmlformats.org/drawingml/2006/main" noGrp="1"/>
          </p:cNvSpPr>
          <p:nvPr/>
        </p:nvSpPr>
        <p:spPr>
          <a:xfrm xmlns:a="http://schemas.openxmlformats.org/drawingml/2006/main">
            <a:off x="609600" y="5191125"/>
            <a:ext cx="5715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5C2D3"/>
                </a:solidFill>
                <a:latin typeface="DejaVu Sans"/>
                <a:ea typeface="DejaVu Sans"/>
                <a:cs typeface="DejaVu Sans"/>
              </a:defRPr>
            </a:pPr>
            <a:r>
              <a:rPr sz="1725" b="0">
                <a:solidFill>
                  <a:srgbClr val="B5C2D3"/>
                </a:solidFill>
                <a:latin typeface="DejaVu Sans"/>
                <a:ea typeface="DejaVu Sans"/>
                <a:cs typeface="DejaVu Sans"/>
              </a:rPr>
              <a:t>Opening section before Post-Quantum Cryptography</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701ba74591c4633"/>
          <a:stretch xmlns:a="http://schemas.openxmlformats.org/drawingml/2006/main"/>
        </p:blipFill>
        <p:spPr>
          <a:xfrm xmlns:a="http://schemas.openxmlformats.org/drawingml/2006/main">
            <a:off x="7143750" y="1738313"/>
            <a:ext cx="4381500" cy="3286125"/>
          </a:xfrm>
          <a:prstGeom xmlns:a="http://schemas.openxmlformats.org/drawingml/2006/main" prst="rect">
            <a:avLst/>
          </a:prstGeom>
        </p:spPr>
      </p:pic>
    </p:spTree>
    <p:extLst>
      <p:ext uri="{BB962C8B-B14F-4D97-AF65-F5344CB8AC3E}">
        <p14:creationId xmlns:p14="http://schemas.microsoft.com/office/powerpoint/2010/main" val="1451765723"/>
      </p:ext>
    </p:extLst>
  </p:cSld>
</p:sld>
</file>

<file path=ppt/slides/slide2.xml><?xml version="1.0" encoding="utf-8"?>
<p:sld xmlns:p="http://schemas.openxmlformats.org/presentationml/2006/main">
  <p:cSld>
    <p:bg>
      <p:bgPr>
        <a:solidFill xmlns:a="http://schemas.openxmlformats.org/drawingml/2006/main">
          <a:srgbClr val="101827"/>
        </a:solidFill>
      </p:bgPr>
    </p:bg>
    <p:spTree>
      <p:nvGrpSpPr>
        <p:cNvPr id="1" name=""/>
        <p:cNvGrpSpPr/>
        <p:nvPr/>
      </p:nvGrpSpPr>
      <p:grpSpPr>
        <a:xfrm xmlns:a="http://schemas.openxmlformats.org/drawingml/2006/main"/>
      </p:grpSpPr>
      <p:cxnSp>
        <p:nvCxnSpPr>
          <p:cNvPr id="12" name=""/>
          <p:cNvCxnSpPr>
            <a:stCxn xmlns:a="http://schemas.openxmlformats.org/drawingml/2006/main" id="4" idx="3"/>
            <a:endCxn xmlns:a="http://schemas.openxmlformats.org/drawingml/2006/main" id="5" idx="1"/>
          </p:cNvCxnSpPr>
          <p:nvPr/>
        </p:nvCxnSpPr>
        <p:spPr>
          <a:xfrm xmlns:a="http://schemas.openxmlformats.org/drawingml/2006/main">
            <a:off x="7667625" y="2381250"/>
            <a:ext cx="771525" cy="0"/>
          </a:xfrm>
          <a:prstGeom xmlns:a="http://schemas.openxmlformats.org/drawingml/2006/main" prst="straightConnector1">
            <a:avLst/>
          </a:prstGeom>
          <a:ln xmlns:a="http://schemas.openxmlformats.org/drawingml/2006/main" w="19050">
            <a:solidFill>
              <a:srgbClr val="64E1DC"/>
            </a:solidFill>
            <a:tailEnd type="arrow" w="med" len="med"/>
          </a:ln>
        </p:spPr>
      </p:cxnSp>
      <p:cxnSp>
        <p:nvCxnSpPr>
          <p:cNvPr id="13" name=""/>
          <p:cNvCxnSpPr>
            <a:stCxn xmlns:a="http://schemas.openxmlformats.org/drawingml/2006/main" id="3" idx="3"/>
            <a:endCxn xmlns:a="http://schemas.openxmlformats.org/drawingml/2006/main" id="4" idx="1"/>
          </p:cNvCxnSpPr>
          <p:nvPr/>
        </p:nvCxnSpPr>
        <p:spPr>
          <a:xfrm xmlns:a="http://schemas.openxmlformats.org/drawingml/2006/main">
            <a:off x="3752850" y="2381250"/>
            <a:ext cx="771525" cy="0"/>
          </a:xfrm>
          <a:prstGeom xmlns:a="http://schemas.openxmlformats.org/drawingml/2006/main" prst="straightConnector1">
            <a:avLst/>
          </a:prstGeom>
          <a:ln xmlns:a="http://schemas.openxmlformats.org/drawingml/2006/main" w="19050">
            <a:solidFill>
              <a:srgbClr val="64E1DC"/>
            </a:solidFill>
            <a:tailEnd type="arrow" w="med" len="med"/>
          </a:ln>
        </p:spPr>
      </p:cxnSp>
      <p:sp>
        <p:nvSpPr>
          <p:cNvPr id="14" name="">
            <a:extLst xmlns:a="http://schemas.openxmlformats.org/drawingml/2006/main">
              <a:ext uri="{FF2B5EF4-FFF2-40B4-BE49-F238E27FC236}">
                <a16:creationId xmlns:a16="http://schemas.microsoft.com/office/drawing/2014/main" id="{B3D0D5E7-D4B9-4356-A2FB-7B9148900BC0}"/>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2F5FA"/>
                </a:solidFill>
                <a:latin typeface="DejaVu Sans"/>
                <a:ea typeface="DejaVu Sans"/>
                <a:cs typeface="DejaVu Sans"/>
              </a:defRPr>
            </a:pPr>
            <a:r>
              <a:rPr sz="3000" b="1">
                <a:solidFill>
                  <a:srgbClr val="F2F5FA"/>
                </a:solidFill>
                <a:latin typeface="DejaVu Sans"/>
                <a:ea typeface="DejaVu Sans"/>
                <a:cs typeface="DejaVu Sans"/>
              </a:rPr>
              <a:t>AI across the application lifecycle</a:t>
            </a:r>
          </a:p>
        </p:txBody>
      </p:sp>
      <p:sp>
        <p:nvSpPr>
          <p:cNvPr id="2" name="">
            <a:extLst xmlns:a="http://schemas.openxmlformats.org/drawingml/2006/main">
              <a:ext uri="{FF2B5EF4-FFF2-40B4-BE49-F238E27FC236}">
                <a16:creationId xmlns:a16="http://schemas.microsoft.com/office/drawing/2014/main" id="{AADFAA1D-1D36-4D0A-8AA4-FFCA7DE6CF3C}"/>
              </a:ext>
            </a:extLst>
          </p:cNvPr>
          <p:cNvSpPr>
            <a:spLocks xmlns:a="http://schemas.openxmlformats.org/drawingml/2006/main" noGrp="1"/>
          </p:cNvSpPr>
          <p:nvPr/>
        </p:nvSpPr>
        <p:spPr>
          <a:xfrm xmlns:a="http://schemas.openxmlformats.org/drawingml/2006/main">
            <a:off x="11144250" y="62865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5C2D3"/>
                </a:solidFill>
                <a:latin typeface="DejaVu Sans"/>
                <a:ea typeface="DejaVu Sans"/>
                <a:cs typeface="DejaVu Sans"/>
              </a:defRPr>
            </a:pPr>
            <a:r>
              <a:rPr sz="1275" b="0">
                <a:solidFill>
                  <a:srgbClr val="B5C2D3"/>
                </a:solidFill>
                <a:latin typeface="DejaVu Sans"/>
                <a:ea typeface="DejaVu Sans"/>
                <a:cs typeface="DejaVu Sans"/>
              </a:rPr>
              <a:t>02</a:t>
            </a:r>
          </a:p>
        </p:txBody>
      </p:sp>
      <p:sp>
        <p:nvSpPr>
          <p:cNvPr id="3" name="">
            <a:extLst xmlns:a="http://schemas.openxmlformats.org/drawingml/2006/main">
              <a:ext uri="{FF2B5EF4-FFF2-40B4-BE49-F238E27FC236}">
                <a16:creationId xmlns:a16="http://schemas.microsoft.com/office/drawing/2014/main" id="{A230A045-A925-42B5-B421-6354D3BD51C1}"/>
              </a:ext>
            </a:extLst>
          </p:cNvPr>
          <p:cNvSpPr>
            <a:spLocks xmlns:a="http://schemas.openxmlformats.org/drawingml/2006/main" noGrp="1"/>
          </p:cNvSpPr>
          <p:nvPr/>
        </p:nvSpPr>
        <p:spPr>
          <a:xfrm xmlns:a="http://schemas.openxmlformats.org/drawingml/2006/main">
            <a:off x="609600" y="2000250"/>
            <a:ext cx="3143250" cy="762000"/>
          </a:xfrm>
          <a:prstGeom xmlns:a="http://schemas.openxmlformats.org/drawingml/2006/main" prst="rect">
            <a:avLst/>
          </a:prstGeom>
          <a:solidFill xmlns:a="http://schemas.openxmlformats.org/drawingml/2006/main">
            <a:srgbClr val="17263B"/>
          </a:solidFill>
          <a:ln xmlns:a="http://schemas.openxmlformats.org/drawingml/2006/main" w="19050">
            <a:solidFill>
              <a:srgbClr val="64E1DC"/>
            </a:solidFill>
          </a:ln>
        </p:spPr>
        <p:txBody>
          <a:bodyPr xmlns:a="http://schemas.openxmlformats.org/drawingml/2006/main" anchor="ctr"/>
          <a:lstStyle xmlns:a="http://schemas.openxmlformats.org/drawingml/2006/main"/>
          <a:p xmlns:a="http://schemas.openxmlformats.org/drawingml/2006/main">
            <a:pPr algn="ctr">
              <a:defRPr sz="1875" b="1">
                <a:solidFill>
                  <a:srgbClr val="F2F5FA"/>
                </a:solidFill>
                <a:latin typeface="DejaVu Sans"/>
                <a:ea typeface="DejaVu Sans"/>
                <a:cs typeface="DejaVu Sans"/>
              </a:defRPr>
            </a:pPr>
            <a:r>
              <a:rPr sz="1875" b="1">
                <a:solidFill>
                  <a:srgbClr val="F2F5FA"/>
                </a:solidFill>
                <a:latin typeface="DejaVu Sans"/>
                <a:ea typeface="DejaVu Sans"/>
                <a:cs typeface="DejaVu Sans"/>
              </a:rPr>
              <a:t>Build with AI</a:t>
            </a:r>
          </a:p>
        </p:txBody>
      </p:sp>
      <p:sp>
        <p:nvSpPr>
          <p:cNvPr id="4" name="">
            <a:extLst xmlns:a="http://schemas.openxmlformats.org/drawingml/2006/main">
              <a:ext uri="{FF2B5EF4-FFF2-40B4-BE49-F238E27FC236}">
                <a16:creationId xmlns:a16="http://schemas.microsoft.com/office/drawing/2014/main" id="{7B346255-88E1-468B-B6F3-5E0497AC6D9F}"/>
              </a:ext>
            </a:extLst>
          </p:cNvPr>
          <p:cNvSpPr>
            <a:spLocks xmlns:a="http://schemas.openxmlformats.org/drawingml/2006/main" noGrp="1"/>
          </p:cNvSpPr>
          <p:nvPr/>
        </p:nvSpPr>
        <p:spPr>
          <a:xfrm xmlns:a="http://schemas.openxmlformats.org/drawingml/2006/main">
            <a:off x="4524375" y="2000250"/>
            <a:ext cx="3143250" cy="762000"/>
          </a:xfrm>
          <a:prstGeom xmlns:a="http://schemas.openxmlformats.org/drawingml/2006/main" prst="rect">
            <a:avLst/>
          </a:prstGeom>
          <a:solidFill xmlns:a="http://schemas.openxmlformats.org/drawingml/2006/main">
            <a:srgbClr val="17263B"/>
          </a:solidFill>
          <a:ln xmlns:a="http://schemas.openxmlformats.org/drawingml/2006/main" w="19050">
            <a:solidFill>
              <a:srgbClr val="64E1DC"/>
            </a:solidFill>
          </a:ln>
        </p:spPr>
        <p:txBody>
          <a:bodyPr xmlns:a="http://schemas.openxmlformats.org/drawingml/2006/main" anchor="ctr"/>
          <a:lstStyle xmlns:a="http://schemas.openxmlformats.org/drawingml/2006/main"/>
          <a:p xmlns:a="http://schemas.openxmlformats.org/drawingml/2006/main">
            <a:pPr algn="ctr">
              <a:defRPr sz="1875" b="1">
                <a:solidFill>
                  <a:srgbClr val="F2F5FA"/>
                </a:solidFill>
                <a:latin typeface="DejaVu Sans"/>
                <a:ea typeface="DejaVu Sans"/>
                <a:cs typeface="DejaVu Sans"/>
              </a:defRPr>
            </a:pPr>
            <a:r>
              <a:rPr sz="1875" b="1">
                <a:solidFill>
                  <a:srgbClr val="F2F5FA"/>
                </a:solidFill>
                <a:latin typeface="DejaVu Sans"/>
                <a:ea typeface="DejaVu Sans"/>
                <a:cs typeface="DejaVu Sans"/>
              </a:rPr>
              <a:t>Test with AI</a:t>
            </a:r>
          </a:p>
        </p:txBody>
      </p:sp>
      <p:sp>
        <p:nvSpPr>
          <p:cNvPr id="5" name="">
            <a:extLst xmlns:a="http://schemas.openxmlformats.org/drawingml/2006/main">
              <a:ext uri="{FF2B5EF4-FFF2-40B4-BE49-F238E27FC236}">
                <a16:creationId xmlns:a16="http://schemas.microsoft.com/office/drawing/2014/main" id="{974C64E6-F315-4E04-A64D-19F91CBBA38F}"/>
              </a:ext>
            </a:extLst>
          </p:cNvPr>
          <p:cNvSpPr>
            <a:spLocks xmlns:a="http://schemas.openxmlformats.org/drawingml/2006/main" noGrp="1"/>
          </p:cNvSpPr>
          <p:nvPr/>
        </p:nvSpPr>
        <p:spPr>
          <a:xfrm xmlns:a="http://schemas.openxmlformats.org/drawingml/2006/main">
            <a:off x="8439150" y="2000250"/>
            <a:ext cx="3143250" cy="762000"/>
          </a:xfrm>
          <a:prstGeom xmlns:a="http://schemas.openxmlformats.org/drawingml/2006/main" prst="rect">
            <a:avLst/>
          </a:prstGeom>
          <a:solidFill xmlns:a="http://schemas.openxmlformats.org/drawingml/2006/main">
            <a:srgbClr val="17263B"/>
          </a:solidFill>
          <a:ln xmlns:a="http://schemas.openxmlformats.org/drawingml/2006/main" w="19050">
            <a:solidFill>
              <a:srgbClr val="64E1DC"/>
            </a:solidFill>
          </a:ln>
        </p:spPr>
        <p:txBody>
          <a:bodyPr xmlns:a="http://schemas.openxmlformats.org/drawingml/2006/main" anchor="ctr"/>
          <a:lstStyle xmlns:a="http://schemas.openxmlformats.org/drawingml/2006/main"/>
          <a:p xmlns:a="http://schemas.openxmlformats.org/drawingml/2006/main">
            <a:pPr algn="ctr">
              <a:defRPr sz="1875" b="1">
                <a:solidFill>
                  <a:srgbClr val="F2F5FA"/>
                </a:solidFill>
                <a:latin typeface="DejaVu Sans"/>
                <a:ea typeface="DejaVu Sans"/>
                <a:cs typeface="DejaVu Sans"/>
              </a:defRPr>
            </a:pPr>
            <a:r>
              <a:rPr sz="1875" b="1">
                <a:solidFill>
                  <a:srgbClr val="F2F5FA"/>
                </a:solidFill>
                <a:latin typeface="DejaVu Sans"/>
                <a:ea typeface="DejaVu Sans"/>
                <a:cs typeface="DejaVu Sans"/>
              </a:rPr>
              <a:t>Secure AI systems</a:t>
            </a:r>
          </a:p>
        </p:txBody>
      </p:sp>
      <p:sp>
        <p:nvSpPr>
          <p:cNvPr id="8" name="">
            <a:extLst xmlns:a="http://schemas.openxmlformats.org/drawingml/2006/main">
              <a:ext uri="{FF2B5EF4-FFF2-40B4-BE49-F238E27FC236}">
                <a16:creationId xmlns:a16="http://schemas.microsoft.com/office/drawing/2014/main" id="{543BD9FA-8229-46FD-9705-806043BB5D8B}"/>
              </a:ext>
            </a:extLst>
          </p:cNvPr>
          <p:cNvSpPr>
            <a:spLocks xmlns:a="http://schemas.openxmlformats.org/drawingml/2006/main" noGrp="1"/>
          </p:cNvSpPr>
          <p:nvPr/>
        </p:nvSpPr>
        <p:spPr>
          <a:xfrm xmlns:a="http://schemas.openxmlformats.org/drawingml/2006/main">
            <a:off x="609600" y="3095625"/>
            <a:ext cx="314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2F5FA"/>
                </a:solidFill>
                <a:latin typeface="DejaVu Sans"/>
                <a:ea typeface="DejaVu Sans"/>
                <a:cs typeface="DejaVu Sans"/>
              </a:defRPr>
            </a:pPr>
            <a:r>
              <a:rPr sz="2025" b="0">
                <a:solidFill>
                  <a:srgbClr val="F2F5FA"/>
                </a:solidFill>
                <a:latin typeface="DejaVu Sans"/>
                <a:ea typeface="DejaVu Sans"/>
                <a:cs typeface="DejaVu Sans"/>
              </a:rPr>
              <a:t>Coding assistants generate</a:t>
            </a:r>
          </a:p>
          <a:p xmlns:a="http://schemas.openxmlformats.org/drawingml/2006/main">
            <a:pPr>
              <a:defRPr sz="2025" b="0">
                <a:solidFill>
                  <a:srgbClr val="F2F5FA"/>
                </a:solidFill>
                <a:latin typeface="DejaVu Sans"/>
                <a:ea typeface="DejaVu Sans"/>
                <a:cs typeface="DejaVu Sans"/>
              </a:defRPr>
            </a:pPr>
            <a:r>
              <a:rPr sz="2025" b="0">
                <a:solidFill>
                  <a:srgbClr val="F2F5FA"/>
                </a:solidFill>
                <a:latin typeface="DejaVu Sans"/>
                <a:ea typeface="DejaVu Sans"/>
                <a:cs typeface="DejaVu Sans"/>
              </a:rPr>
              <a:t>code and dependencies.</a:t>
            </a:r>
          </a:p>
        </p:txBody>
      </p:sp>
      <p:sp>
        <p:nvSpPr>
          <p:cNvPr id="9" name="">
            <a:extLst xmlns:a="http://schemas.openxmlformats.org/drawingml/2006/main">
              <a:ext uri="{FF2B5EF4-FFF2-40B4-BE49-F238E27FC236}">
                <a16:creationId xmlns:a16="http://schemas.microsoft.com/office/drawing/2014/main" id="{4D0E3071-4788-40A2-9062-2BF7787156F6}"/>
              </a:ext>
            </a:extLst>
          </p:cNvPr>
          <p:cNvSpPr>
            <a:spLocks xmlns:a="http://schemas.openxmlformats.org/drawingml/2006/main" noGrp="1"/>
          </p:cNvSpPr>
          <p:nvPr/>
        </p:nvSpPr>
        <p:spPr>
          <a:xfrm xmlns:a="http://schemas.openxmlformats.org/drawingml/2006/main">
            <a:off x="4524375" y="3095625"/>
            <a:ext cx="314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2F5FA"/>
                </a:solidFill>
                <a:latin typeface="DejaVu Sans"/>
                <a:ea typeface="DejaVu Sans"/>
                <a:cs typeface="DejaVu Sans"/>
              </a:defRPr>
            </a:pPr>
            <a:r>
              <a:rPr sz="2025" b="0">
                <a:solidFill>
                  <a:srgbClr val="F2F5FA"/>
                </a:solidFill>
                <a:latin typeface="DejaVu Sans"/>
                <a:ea typeface="DejaVu Sans"/>
                <a:cs typeface="DejaVu Sans"/>
              </a:rPr>
              <a:t>Models assist code review,</a:t>
            </a:r>
          </a:p>
          <a:p xmlns:a="http://schemas.openxmlformats.org/drawingml/2006/main">
            <a:pPr>
              <a:defRPr sz="2025" b="0">
                <a:solidFill>
                  <a:srgbClr val="F2F5FA"/>
                </a:solidFill>
                <a:latin typeface="DejaVu Sans"/>
                <a:ea typeface="DejaVu Sans"/>
                <a:cs typeface="DejaVu Sans"/>
              </a:defRPr>
            </a:pPr>
            <a:r>
              <a:rPr sz="2025" b="0">
                <a:solidFill>
                  <a:srgbClr val="F2F5FA"/>
                </a:solidFill>
                <a:latin typeface="DejaVu Sans"/>
                <a:ea typeface="DejaVu Sans"/>
                <a:cs typeface="DejaVu Sans"/>
              </a:rPr>
              <a:t>triage and fix proposals.</a:t>
            </a:r>
          </a:p>
        </p:txBody>
      </p:sp>
      <p:sp>
        <p:nvSpPr>
          <p:cNvPr id="10" name="">
            <a:extLst xmlns:a="http://schemas.openxmlformats.org/drawingml/2006/main">
              <a:ext uri="{FF2B5EF4-FFF2-40B4-BE49-F238E27FC236}">
                <a16:creationId xmlns:a16="http://schemas.microsoft.com/office/drawing/2014/main" id="{AEF56AC1-CD1B-4560-84B0-6E7296E321C1}"/>
              </a:ext>
            </a:extLst>
          </p:cNvPr>
          <p:cNvSpPr>
            <a:spLocks xmlns:a="http://schemas.openxmlformats.org/drawingml/2006/main" noGrp="1"/>
          </p:cNvSpPr>
          <p:nvPr/>
        </p:nvSpPr>
        <p:spPr>
          <a:xfrm xmlns:a="http://schemas.openxmlformats.org/drawingml/2006/main">
            <a:off x="8439150" y="3095625"/>
            <a:ext cx="314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2F5FA"/>
                </a:solidFill>
                <a:latin typeface="DejaVu Sans"/>
                <a:ea typeface="DejaVu Sans"/>
                <a:cs typeface="DejaVu Sans"/>
              </a:defRPr>
            </a:pPr>
            <a:r>
              <a:rPr sz="2025" b="0">
                <a:solidFill>
                  <a:srgbClr val="F2F5FA"/>
                </a:solidFill>
                <a:latin typeface="DejaVu Sans"/>
                <a:ea typeface="DejaVu Sans"/>
                <a:cs typeface="DejaVu Sans"/>
              </a:rPr>
              <a:t>LLMs, retrieval and agents</a:t>
            </a:r>
          </a:p>
          <a:p xmlns:a="http://schemas.openxmlformats.org/drawingml/2006/main">
            <a:pPr>
              <a:defRPr sz="2025" b="0">
                <a:solidFill>
                  <a:srgbClr val="F2F5FA"/>
                </a:solidFill>
                <a:latin typeface="DejaVu Sans"/>
                <a:ea typeface="DejaVu Sans"/>
                <a:cs typeface="DejaVu Sans"/>
              </a:defRPr>
            </a:pPr>
            <a:r>
              <a:rPr sz="2025" b="0">
                <a:solidFill>
                  <a:srgbClr val="F2F5FA"/>
                </a:solidFill>
                <a:latin typeface="DejaVu Sans"/>
                <a:ea typeface="DejaVu Sans"/>
                <a:cs typeface="DejaVu Sans"/>
              </a:rPr>
              <a:t>introduce new trust boundaries.</a:t>
            </a:r>
          </a:p>
        </p:txBody>
      </p:sp>
      <p:sp>
        <p:nvSpPr>
          <p:cNvPr id="11" name="">
            <a:extLst xmlns:a="http://schemas.openxmlformats.org/drawingml/2006/main">
              <a:ext uri="{FF2B5EF4-FFF2-40B4-BE49-F238E27FC236}">
                <a16:creationId xmlns:a16="http://schemas.microsoft.com/office/drawing/2014/main" id="{CE3BBEFB-8508-4E26-A4B6-6940D8E1995B}"/>
              </a:ext>
            </a:extLst>
          </p:cNvPr>
          <p:cNvSpPr>
            <a:spLocks xmlns:a="http://schemas.openxmlformats.org/drawingml/2006/main" noGrp="1"/>
          </p:cNvSpPr>
          <p:nvPr/>
        </p:nvSpPr>
        <p:spPr>
          <a:xfrm xmlns:a="http://schemas.openxmlformats.org/drawingml/2006/main">
            <a:off x="609600" y="53340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64E1DC"/>
                </a:solidFill>
                <a:latin typeface="DejaVu Sans"/>
                <a:ea typeface="DejaVu Sans"/>
                <a:cs typeface="DejaVu Sans"/>
              </a:defRPr>
            </a:pPr>
            <a:r>
              <a:rPr sz="2400" b="1">
                <a:solidFill>
                  <a:srgbClr val="64E1DC"/>
                </a:solidFill>
                <a:latin typeface="DejaVu Sans"/>
                <a:ea typeface="DejaVu Sans"/>
                <a:cs typeface="DejaVu Sans"/>
              </a:rPr>
              <a:t>Each use of AI adds a security responsibility.</a:t>
            </a:r>
          </a:p>
        </p:txBody>
      </p:sp>
    </p:spTree>
    <p:extLst>
      <p:ext uri="{BB962C8B-B14F-4D97-AF65-F5344CB8AC3E}">
        <p14:creationId xmlns:p14="http://schemas.microsoft.com/office/powerpoint/2010/main" val="1816895210"/>
      </p:ext>
    </p:extLst>
  </p:cSld>
</p:sld>
</file>

<file path=ppt/slides/slide3.xml><?xml version="1.0" encoding="utf-8"?>
<p:sld xmlns:p="http://schemas.openxmlformats.org/presentationml/2006/main">
  <p:cSld>
    <p:bg>
      <p:bgPr>
        <a:solidFill xmlns:a="http://schemas.openxmlformats.org/drawingml/2006/main">
          <a:srgbClr val="101827"/>
        </a:solidFill>
      </p:bgPr>
    </p:bg>
    <p:spTree>
      <p:nvGrpSpPr>
        <p:cNvPr id="1" name=""/>
        <p:cNvGrpSpPr/>
        <p:nvPr/>
      </p:nvGrpSpPr>
      <p:grpSpPr>
        <a:xfrm xmlns:a="http://schemas.openxmlformats.org/drawingml/2006/main"/>
      </p:grpSpPr>
      <p:cxnSp>
        <p:nvCxnSpPr>
          <p:cNvPr id="15" name=""/>
          <p:cNvCxnSpPr>
            <a:stCxn xmlns:a="http://schemas.openxmlformats.org/drawingml/2006/main" id="10" idx="3"/>
            <a:endCxn xmlns:a="http://schemas.openxmlformats.org/drawingml/2006/main" id="11" idx="1"/>
          </p:cNvCxnSpPr>
          <p:nvPr/>
        </p:nvCxnSpPr>
        <p:spPr>
          <a:xfrm xmlns:a="http://schemas.openxmlformats.org/drawingml/2006/main">
            <a:off x="8715375" y="5572125"/>
            <a:ext cx="647700" cy="0"/>
          </a:xfrm>
          <a:prstGeom xmlns:a="http://schemas.openxmlformats.org/drawingml/2006/main" prst="straightConnector1">
            <a:avLst/>
          </a:prstGeom>
          <a:ln xmlns:a="http://schemas.openxmlformats.org/drawingml/2006/main" w="19050">
            <a:solidFill>
              <a:srgbClr val="64E1DC"/>
            </a:solidFill>
            <a:tailEnd type="arrow" w="med" len="med"/>
          </a:ln>
        </p:spPr>
      </p:cxnSp>
      <p:cxnSp>
        <p:nvCxnSpPr>
          <p:cNvPr id="16" name=""/>
          <p:cNvCxnSpPr>
            <a:stCxn xmlns:a="http://schemas.openxmlformats.org/drawingml/2006/main" id="9" idx="3"/>
            <a:endCxn xmlns:a="http://schemas.openxmlformats.org/drawingml/2006/main" id="10" idx="1"/>
          </p:cNvCxnSpPr>
          <p:nvPr/>
        </p:nvCxnSpPr>
        <p:spPr>
          <a:xfrm xmlns:a="http://schemas.openxmlformats.org/drawingml/2006/main">
            <a:off x="5495925" y="5572125"/>
            <a:ext cx="647700" cy="0"/>
          </a:xfrm>
          <a:prstGeom xmlns:a="http://schemas.openxmlformats.org/drawingml/2006/main" prst="straightConnector1">
            <a:avLst/>
          </a:prstGeom>
          <a:ln xmlns:a="http://schemas.openxmlformats.org/drawingml/2006/main" w="19050">
            <a:solidFill>
              <a:srgbClr val="64E1DC"/>
            </a:solidFill>
            <a:tailEnd type="arrow" w="med" len="med"/>
          </a:ln>
        </p:spPr>
      </p:cxnSp>
      <p:cxnSp>
        <p:nvCxnSpPr>
          <p:cNvPr id="17" name=""/>
          <p:cNvCxnSpPr>
            <a:stCxn xmlns:a="http://schemas.openxmlformats.org/drawingml/2006/main" id="8" idx="3"/>
            <a:endCxn xmlns:a="http://schemas.openxmlformats.org/drawingml/2006/main" id="9" idx="1"/>
          </p:cNvCxnSpPr>
          <p:nvPr/>
        </p:nvCxnSpPr>
        <p:spPr>
          <a:xfrm xmlns:a="http://schemas.openxmlformats.org/drawingml/2006/main">
            <a:off x="2562225" y="5572125"/>
            <a:ext cx="647700" cy="0"/>
          </a:xfrm>
          <a:prstGeom xmlns:a="http://schemas.openxmlformats.org/drawingml/2006/main" prst="straightConnector1">
            <a:avLst/>
          </a:prstGeom>
          <a:ln xmlns:a="http://schemas.openxmlformats.org/drawingml/2006/main" w="19050">
            <a:solidFill>
              <a:srgbClr val="64E1DC"/>
            </a:solidFill>
            <a:tailEnd type="arrow" w="med" len="med"/>
          </a:ln>
        </p:spPr>
      </p:cxnSp>
      <p:sp>
        <p:nvSpPr>
          <p:cNvPr id="18" name="">
            <a:extLst xmlns:a="http://schemas.openxmlformats.org/drawingml/2006/main">
              <a:ext uri="{FF2B5EF4-FFF2-40B4-BE49-F238E27FC236}">
                <a16:creationId xmlns:a16="http://schemas.microsoft.com/office/drawing/2014/main" id="{0894F6D3-954D-4F09-A9C1-201186656CE8}"/>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2F5FA"/>
                </a:solidFill>
                <a:latin typeface="DejaVu Sans"/>
                <a:ea typeface="DejaVu Sans"/>
                <a:cs typeface="DejaVu Sans"/>
              </a:defRPr>
            </a:pPr>
            <a:r>
              <a:rPr sz="3000" b="1">
                <a:solidFill>
                  <a:srgbClr val="F2F5FA"/>
                </a:solidFill>
                <a:latin typeface="DejaVu Sans"/>
                <a:ea typeface="DejaVu Sans"/>
                <a:cs typeface="DejaVu Sans"/>
              </a:rPr>
              <a:t>AI complements established AppSec tools</a:t>
            </a:r>
          </a:p>
        </p:txBody>
      </p:sp>
      <p:sp>
        <p:nvSpPr>
          <p:cNvPr id="2" name="">
            <a:extLst xmlns:a="http://schemas.openxmlformats.org/drawingml/2006/main">
              <a:ext uri="{FF2B5EF4-FFF2-40B4-BE49-F238E27FC236}">
                <a16:creationId xmlns:a16="http://schemas.microsoft.com/office/drawing/2014/main" id="{D15AEBF3-DF8F-4F8B-B624-B430421D279A}"/>
              </a:ext>
            </a:extLst>
          </p:cNvPr>
          <p:cNvSpPr>
            <a:spLocks xmlns:a="http://schemas.openxmlformats.org/drawingml/2006/main" noGrp="1"/>
          </p:cNvSpPr>
          <p:nvPr/>
        </p:nvSpPr>
        <p:spPr>
          <a:xfrm xmlns:a="http://schemas.openxmlformats.org/drawingml/2006/main">
            <a:off x="11144250" y="62865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5C2D3"/>
                </a:solidFill>
                <a:latin typeface="DejaVu Sans"/>
                <a:ea typeface="DejaVu Sans"/>
                <a:cs typeface="DejaVu Sans"/>
              </a:defRPr>
            </a:pPr>
            <a:r>
              <a:rPr sz="1275" b="0">
                <a:solidFill>
                  <a:srgbClr val="B5C2D3"/>
                </a:solidFill>
                <a:latin typeface="DejaVu Sans"/>
                <a:ea typeface="DejaVu Sans"/>
                <a:cs typeface="DejaVu Sans"/>
              </a:rPr>
              <a:t>03</a:t>
            </a:r>
          </a:p>
        </p:txBody>
      </p:sp>
      <p:sp>
        <p:nvSpPr>
          <p:cNvPr id="3" name="">
            <a:extLst xmlns:a="http://schemas.openxmlformats.org/drawingml/2006/main">
              <a:ext uri="{FF2B5EF4-FFF2-40B4-BE49-F238E27FC236}">
                <a16:creationId xmlns:a16="http://schemas.microsoft.com/office/drawing/2014/main" id="{53226B14-F36F-4D64-AC98-D7426D5C4D98}"/>
              </a:ext>
            </a:extLst>
          </p:cNvPr>
          <p:cNvSpPr>
            <a:spLocks xmlns:a="http://schemas.openxmlformats.org/drawingml/2006/main" noGrp="1"/>
          </p:cNvSpPr>
          <p:nvPr/>
        </p:nvSpPr>
        <p:spPr>
          <a:xfrm xmlns:a="http://schemas.openxmlformats.org/drawingml/2006/main">
            <a:off x="609600" y="1666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64E1DC"/>
                </a:solidFill>
                <a:latin typeface="DejaVu Sans"/>
                <a:ea typeface="DejaVu Sans"/>
                <a:cs typeface="DejaVu Sans"/>
              </a:defRPr>
            </a:pPr>
            <a:r>
              <a:rPr sz="2400" b="1">
                <a:solidFill>
                  <a:srgbClr val="64E1DC"/>
                </a:solidFill>
                <a:latin typeface="DejaVu Sans"/>
                <a:ea typeface="DejaVu Sans"/>
                <a:cs typeface="DejaVu Sans"/>
              </a:rPr>
              <a:t>SAST &amp; SCA</a:t>
            </a:r>
          </a:p>
        </p:txBody>
      </p:sp>
      <p:sp>
        <p:nvSpPr>
          <p:cNvPr id="4" name="">
            <a:extLst xmlns:a="http://schemas.openxmlformats.org/drawingml/2006/main">
              <a:ext uri="{FF2B5EF4-FFF2-40B4-BE49-F238E27FC236}">
                <a16:creationId xmlns:a16="http://schemas.microsoft.com/office/drawing/2014/main" id="{945BF806-CCBF-4657-A7E8-D37F05E11836}"/>
              </a:ext>
            </a:extLst>
          </p:cNvPr>
          <p:cNvSpPr>
            <a:spLocks xmlns:a="http://schemas.openxmlformats.org/drawingml/2006/main" noGrp="1"/>
          </p:cNvSpPr>
          <p:nvPr/>
        </p:nvSpPr>
        <p:spPr>
          <a:xfrm xmlns:a="http://schemas.openxmlformats.org/drawingml/2006/main">
            <a:off x="609600" y="2333625"/>
            <a:ext cx="5238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2F5FA"/>
                </a:solidFill>
                <a:latin typeface="DejaVu Sans"/>
                <a:ea typeface="DejaVu Sans"/>
                <a:cs typeface="DejaVu Sans"/>
              </a:defRPr>
            </a:pPr>
            <a:r>
              <a:rPr sz="2025" b="0">
                <a:solidFill>
                  <a:srgbClr val="F2F5FA"/>
                </a:solidFill>
                <a:latin typeface="DejaVu Sans"/>
                <a:ea typeface="DejaVu Sans"/>
                <a:cs typeface="DejaVu Sans"/>
              </a:rPr>
              <a:t>Repeatable code checks</a:t>
            </a:r>
          </a:p>
          <a:p xmlns:a="http://schemas.openxmlformats.org/drawingml/2006/main">
            <a:pPr>
              <a:defRPr sz="2025" b="0">
                <a:solidFill>
                  <a:srgbClr val="F2F5FA"/>
                </a:solidFill>
                <a:latin typeface="DejaVu Sans"/>
                <a:ea typeface="DejaVu Sans"/>
                <a:cs typeface="DejaVu Sans"/>
              </a:defRPr>
            </a:pPr>
            <a:r>
              <a:rPr sz="2025" b="0">
                <a:solidFill>
                  <a:srgbClr val="F2F5FA"/>
                </a:solidFill>
                <a:latin typeface="DejaVu Sans"/>
                <a:ea typeface="DejaVu Sans"/>
                <a:cs typeface="DejaVu Sans"/>
              </a:rPr>
              <a:t>Dependency and license inventory</a:t>
            </a:r>
          </a:p>
          <a:p xmlns:a="http://schemas.openxmlformats.org/drawingml/2006/main">
            <a:pPr>
              <a:defRPr sz="2025" b="0">
                <a:solidFill>
                  <a:srgbClr val="F2F5FA"/>
                </a:solidFill>
                <a:latin typeface="DejaVu Sans"/>
                <a:ea typeface="DejaVu Sans"/>
                <a:cs typeface="DejaVu Sans"/>
              </a:defRPr>
            </a:pPr>
            <a:r>
              <a:rPr sz="2025" b="0">
                <a:solidFill>
                  <a:srgbClr val="F2F5FA"/>
                </a:solidFill>
                <a:latin typeface="DejaVu Sans"/>
                <a:ea typeface="DejaVu Sans"/>
                <a:cs typeface="DejaVu Sans"/>
              </a:rPr>
              <a:t>Traceable findings and policy gates</a:t>
            </a:r>
          </a:p>
        </p:txBody>
      </p:sp>
      <p:sp>
        <p:nvSpPr>
          <p:cNvPr id="5" name="">
            <a:extLst xmlns:a="http://schemas.openxmlformats.org/drawingml/2006/main">
              <a:ext uri="{FF2B5EF4-FFF2-40B4-BE49-F238E27FC236}">
                <a16:creationId xmlns:a16="http://schemas.microsoft.com/office/drawing/2014/main" id="{3DBADDF2-3AE2-44A2-A398-0D00BC10855B}"/>
              </a:ext>
            </a:extLst>
          </p:cNvPr>
          <p:cNvSpPr>
            <a:spLocks xmlns:a="http://schemas.openxmlformats.org/drawingml/2006/main" noGrp="1"/>
          </p:cNvSpPr>
          <p:nvPr/>
        </p:nvSpPr>
        <p:spPr>
          <a:xfrm xmlns:a="http://schemas.openxmlformats.org/drawingml/2006/main">
            <a:off x="6191250" y="1666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B7A2FF"/>
                </a:solidFill>
                <a:latin typeface="DejaVu Sans"/>
                <a:ea typeface="DejaVu Sans"/>
                <a:cs typeface="DejaVu Sans"/>
              </a:defRPr>
            </a:pPr>
            <a:r>
              <a:rPr sz="2400" b="1">
                <a:solidFill>
                  <a:srgbClr val="B7A2FF"/>
                </a:solidFill>
                <a:latin typeface="DejaVu Sans"/>
                <a:ea typeface="DejaVu Sans"/>
                <a:cs typeface="DejaVu Sans"/>
              </a:rPr>
              <a:t>LLM analysis</a:t>
            </a:r>
          </a:p>
        </p:txBody>
      </p:sp>
      <p:sp>
        <p:nvSpPr>
          <p:cNvPr id="6" name="">
            <a:extLst xmlns:a="http://schemas.openxmlformats.org/drawingml/2006/main">
              <a:ext uri="{FF2B5EF4-FFF2-40B4-BE49-F238E27FC236}">
                <a16:creationId xmlns:a16="http://schemas.microsoft.com/office/drawing/2014/main" id="{A3B18190-4EC6-44E8-904D-DA293DA1F550}"/>
              </a:ext>
            </a:extLst>
          </p:cNvPr>
          <p:cNvSpPr>
            <a:spLocks xmlns:a="http://schemas.openxmlformats.org/drawingml/2006/main" noGrp="1"/>
          </p:cNvSpPr>
          <p:nvPr/>
        </p:nvSpPr>
        <p:spPr>
          <a:xfrm xmlns:a="http://schemas.openxmlformats.org/drawingml/2006/main">
            <a:off x="6191250" y="2333625"/>
            <a:ext cx="5238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2F5FA"/>
                </a:solidFill>
                <a:latin typeface="DejaVu Sans"/>
                <a:ea typeface="DejaVu Sans"/>
                <a:cs typeface="DejaVu Sans"/>
              </a:defRPr>
            </a:pPr>
            <a:r>
              <a:rPr sz="2025" b="0">
                <a:solidFill>
                  <a:srgbClr val="F2F5FA"/>
                </a:solidFill>
                <a:latin typeface="DejaVu Sans"/>
                <a:ea typeface="DejaVu Sans"/>
                <a:cs typeface="DejaVu Sans"/>
              </a:rPr>
              <a:t>Reasoning about code context</a:t>
            </a:r>
          </a:p>
          <a:p xmlns:a="http://schemas.openxmlformats.org/drawingml/2006/main">
            <a:pPr>
              <a:defRPr sz="2025" b="0">
                <a:solidFill>
                  <a:srgbClr val="F2F5FA"/>
                </a:solidFill>
                <a:latin typeface="DejaVu Sans"/>
                <a:ea typeface="DejaVu Sans"/>
                <a:cs typeface="DejaVu Sans"/>
              </a:defRPr>
            </a:pPr>
            <a:r>
              <a:rPr sz="2025" b="0">
                <a:solidFill>
                  <a:srgbClr val="F2F5FA"/>
                </a:solidFill>
                <a:latin typeface="DejaVu Sans"/>
                <a:ea typeface="DejaVu Sans"/>
                <a:cs typeface="DejaVu Sans"/>
              </a:rPr>
              <a:t>Explaining suspected vulnerabilities</a:t>
            </a:r>
          </a:p>
          <a:p xmlns:a="http://schemas.openxmlformats.org/drawingml/2006/main">
            <a:pPr>
              <a:defRPr sz="2025" b="0">
                <a:solidFill>
                  <a:srgbClr val="F2F5FA"/>
                </a:solidFill>
                <a:latin typeface="DejaVu Sans"/>
                <a:ea typeface="DejaVu Sans"/>
                <a:cs typeface="DejaVu Sans"/>
              </a:defRPr>
            </a:pPr>
            <a:r>
              <a:rPr sz="2025" b="0">
                <a:solidFill>
                  <a:srgbClr val="F2F5FA"/>
                </a:solidFill>
                <a:latin typeface="DejaVu Sans"/>
                <a:ea typeface="DejaVu Sans"/>
                <a:cs typeface="DejaVu Sans"/>
              </a:rPr>
              <a:t>Assisting triage and remediation</a:t>
            </a:r>
          </a:p>
        </p:txBody>
      </p:sp>
      <p:sp>
        <p:nvSpPr>
          <p:cNvPr id="7" name="">
            <a:extLst xmlns:a="http://schemas.openxmlformats.org/drawingml/2006/main">
              <a:ext uri="{FF2B5EF4-FFF2-40B4-BE49-F238E27FC236}">
                <a16:creationId xmlns:a16="http://schemas.microsoft.com/office/drawing/2014/main" id="{CB9BAC37-86F9-47F6-8B07-1BE4B0296AFA}"/>
              </a:ext>
            </a:extLst>
          </p:cNvPr>
          <p:cNvSpPr>
            <a:spLocks xmlns:a="http://schemas.openxmlformats.org/drawingml/2006/main" noGrp="1"/>
          </p:cNvSpPr>
          <p:nvPr/>
        </p:nvSpPr>
        <p:spPr>
          <a:xfrm xmlns:a="http://schemas.openxmlformats.org/drawingml/2006/main">
            <a:off x="609600" y="4476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2F5FA"/>
                </a:solidFill>
                <a:latin typeface="DejaVu Sans"/>
                <a:ea typeface="DejaVu Sans"/>
                <a:cs typeface="DejaVu Sans"/>
              </a:defRPr>
            </a:pPr>
            <a:r>
              <a:rPr sz="2250" b="1">
                <a:solidFill>
                  <a:srgbClr val="F2F5FA"/>
                </a:solidFill>
                <a:latin typeface="DejaVu Sans"/>
                <a:ea typeface="DejaVu Sans"/>
                <a:cs typeface="DejaVu Sans"/>
              </a:rPr>
              <a:t>Combined workflow</a:t>
            </a:r>
          </a:p>
        </p:txBody>
      </p:sp>
      <p:sp>
        <p:nvSpPr>
          <p:cNvPr id="8" name="">
            <a:extLst xmlns:a="http://schemas.openxmlformats.org/drawingml/2006/main">
              <a:ext uri="{FF2B5EF4-FFF2-40B4-BE49-F238E27FC236}">
                <a16:creationId xmlns:a16="http://schemas.microsoft.com/office/drawing/2014/main" id="{583D1AE6-8348-4886-98EB-E04C67C87158}"/>
              </a:ext>
            </a:extLst>
          </p:cNvPr>
          <p:cNvSpPr>
            <a:spLocks xmlns:a="http://schemas.openxmlformats.org/drawingml/2006/main" noGrp="1"/>
          </p:cNvSpPr>
          <p:nvPr/>
        </p:nvSpPr>
        <p:spPr>
          <a:xfrm xmlns:a="http://schemas.openxmlformats.org/drawingml/2006/main">
            <a:off x="609600" y="5238750"/>
            <a:ext cx="1952625" cy="666750"/>
          </a:xfrm>
          <a:prstGeom xmlns:a="http://schemas.openxmlformats.org/drawingml/2006/main" prst="rect">
            <a:avLst/>
          </a:prstGeom>
          <a:solidFill xmlns:a="http://schemas.openxmlformats.org/drawingml/2006/main">
            <a:srgbClr val="17263B"/>
          </a:solidFill>
          <a:ln xmlns:a="http://schemas.openxmlformats.org/drawingml/2006/main" w="19050">
            <a:solidFill>
              <a:srgbClr val="64E1DC"/>
            </a:solidFill>
          </a:ln>
        </p:spPr>
        <p:txBody>
          <a:bodyPr xmlns:a="http://schemas.openxmlformats.org/drawingml/2006/main" anchor="ctr"/>
          <a:lstStyle xmlns:a="http://schemas.openxmlformats.org/drawingml/2006/main"/>
          <a:p xmlns:a="http://schemas.openxmlformats.org/drawingml/2006/main">
            <a:pPr algn="ctr">
              <a:defRPr sz="1875" b="1">
                <a:solidFill>
                  <a:srgbClr val="F2F5FA"/>
                </a:solidFill>
                <a:latin typeface="DejaVu Sans"/>
                <a:ea typeface="DejaVu Sans"/>
                <a:cs typeface="DejaVu Sans"/>
              </a:defRPr>
            </a:pPr>
            <a:r>
              <a:rPr sz="1875" b="1">
                <a:solidFill>
                  <a:srgbClr val="F2F5FA"/>
                </a:solidFill>
                <a:latin typeface="DejaVu Sans"/>
                <a:ea typeface="DejaVu Sans"/>
                <a:cs typeface="DejaVu Sans"/>
              </a:rPr>
              <a:t>Scan</a:t>
            </a:r>
          </a:p>
        </p:txBody>
      </p:sp>
      <p:sp>
        <p:nvSpPr>
          <p:cNvPr id="9" name="">
            <a:extLst xmlns:a="http://schemas.openxmlformats.org/drawingml/2006/main">
              <a:ext uri="{FF2B5EF4-FFF2-40B4-BE49-F238E27FC236}">
                <a16:creationId xmlns:a16="http://schemas.microsoft.com/office/drawing/2014/main" id="{B5607B9B-3DA8-4DFB-A49C-8CF9C00B0956}"/>
              </a:ext>
            </a:extLst>
          </p:cNvPr>
          <p:cNvSpPr>
            <a:spLocks xmlns:a="http://schemas.openxmlformats.org/drawingml/2006/main" noGrp="1"/>
          </p:cNvSpPr>
          <p:nvPr/>
        </p:nvSpPr>
        <p:spPr>
          <a:xfrm xmlns:a="http://schemas.openxmlformats.org/drawingml/2006/main">
            <a:off x="3209925" y="5238750"/>
            <a:ext cx="2286000" cy="666750"/>
          </a:xfrm>
          <a:prstGeom xmlns:a="http://schemas.openxmlformats.org/drawingml/2006/main" prst="rect">
            <a:avLst/>
          </a:prstGeom>
          <a:solidFill xmlns:a="http://schemas.openxmlformats.org/drawingml/2006/main">
            <a:srgbClr val="17263B"/>
          </a:solidFill>
          <a:ln xmlns:a="http://schemas.openxmlformats.org/drawingml/2006/main" w="19050">
            <a:solidFill>
              <a:srgbClr val="64E1DC"/>
            </a:solidFill>
          </a:ln>
        </p:spPr>
        <p:txBody>
          <a:bodyPr xmlns:a="http://schemas.openxmlformats.org/drawingml/2006/main" anchor="ctr"/>
          <a:lstStyle xmlns:a="http://schemas.openxmlformats.org/drawingml/2006/main"/>
          <a:p xmlns:a="http://schemas.openxmlformats.org/drawingml/2006/main">
            <a:pPr algn="ctr">
              <a:defRPr sz="1875" b="1">
                <a:solidFill>
                  <a:srgbClr val="F2F5FA"/>
                </a:solidFill>
                <a:latin typeface="DejaVu Sans"/>
                <a:ea typeface="DejaVu Sans"/>
                <a:cs typeface="DejaVu Sans"/>
              </a:defRPr>
            </a:pPr>
            <a:r>
              <a:rPr sz="1875" b="1">
                <a:solidFill>
                  <a:srgbClr val="F2F5FA"/>
                </a:solidFill>
                <a:latin typeface="DejaVu Sans"/>
                <a:ea typeface="DejaVu Sans"/>
                <a:cs typeface="DejaVu Sans"/>
              </a:rPr>
              <a:t>AI analysis</a:t>
            </a:r>
          </a:p>
        </p:txBody>
      </p:sp>
      <p:sp>
        <p:nvSpPr>
          <p:cNvPr id="10" name="">
            <a:extLst xmlns:a="http://schemas.openxmlformats.org/drawingml/2006/main">
              <a:ext uri="{FF2B5EF4-FFF2-40B4-BE49-F238E27FC236}">
                <a16:creationId xmlns:a16="http://schemas.microsoft.com/office/drawing/2014/main" id="{F78F2E41-2A6F-4ACD-88A0-EF075DB79F3A}"/>
              </a:ext>
            </a:extLst>
          </p:cNvPr>
          <p:cNvSpPr>
            <a:spLocks xmlns:a="http://schemas.openxmlformats.org/drawingml/2006/main" noGrp="1"/>
          </p:cNvSpPr>
          <p:nvPr/>
        </p:nvSpPr>
        <p:spPr>
          <a:xfrm xmlns:a="http://schemas.openxmlformats.org/drawingml/2006/main">
            <a:off x="6143625" y="5238750"/>
            <a:ext cx="2571750" cy="666750"/>
          </a:xfrm>
          <a:prstGeom xmlns:a="http://schemas.openxmlformats.org/drawingml/2006/main" prst="rect">
            <a:avLst/>
          </a:prstGeom>
          <a:solidFill xmlns:a="http://schemas.openxmlformats.org/drawingml/2006/main">
            <a:srgbClr val="17263B"/>
          </a:solidFill>
          <a:ln xmlns:a="http://schemas.openxmlformats.org/drawingml/2006/main" w="19050">
            <a:solidFill>
              <a:srgbClr val="64E1DC"/>
            </a:solidFill>
          </a:ln>
        </p:spPr>
        <p:txBody>
          <a:bodyPr xmlns:a="http://schemas.openxmlformats.org/drawingml/2006/main" anchor="ctr"/>
          <a:lstStyle xmlns:a="http://schemas.openxmlformats.org/drawingml/2006/main"/>
          <a:p xmlns:a="http://schemas.openxmlformats.org/drawingml/2006/main">
            <a:pPr algn="ctr">
              <a:defRPr sz="1875" b="1">
                <a:solidFill>
                  <a:srgbClr val="F2F5FA"/>
                </a:solidFill>
                <a:latin typeface="DejaVu Sans"/>
                <a:ea typeface="DejaVu Sans"/>
                <a:cs typeface="DejaVu Sans"/>
              </a:defRPr>
            </a:pPr>
            <a:r>
              <a:rPr sz="1875" b="1">
                <a:solidFill>
                  <a:srgbClr val="F2F5FA"/>
                </a:solidFill>
                <a:latin typeface="DejaVu Sans"/>
                <a:ea typeface="DejaVu Sans"/>
                <a:cs typeface="DejaVu Sans"/>
              </a:rPr>
              <a:t>Human validation</a:t>
            </a:r>
          </a:p>
        </p:txBody>
      </p:sp>
      <p:sp>
        <p:nvSpPr>
          <p:cNvPr id="11" name="">
            <a:extLst xmlns:a="http://schemas.openxmlformats.org/drawingml/2006/main">
              <a:ext uri="{FF2B5EF4-FFF2-40B4-BE49-F238E27FC236}">
                <a16:creationId xmlns:a16="http://schemas.microsoft.com/office/drawing/2014/main" id="{F5909F48-353A-41DC-B11B-7B46BE366137}"/>
              </a:ext>
            </a:extLst>
          </p:cNvPr>
          <p:cNvSpPr>
            <a:spLocks xmlns:a="http://schemas.openxmlformats.org/drawingml/2006/main" noGrp="1"/>
          </p:cNvSpPr>
          <p:nvPr/>
        </p:nvSpPr>
        <p:spPr>
          <a:xfrm xmlns:a="http://schemas.openxmlformats.org/drawingml/2006/main">
            <a:off x="9363075" y="5238750"/>
            <a:ext cx="2219325" cy="666750"/>
          </a:xfrm>
          <a:prstGeom xmlns:a="http://schemas.openxmlformats.org/drawingml/2006/main" prst="rect">
            <a:avLst/>
          </a:prstGeom>
          <a:solidFill xmlns:a="http://schemas.openxmlformats.org/drawingml/2006/main">
            <a:srgbClr val="17263B"/>
          </a:solidFill>
          <a:ln xmlns:a="http://schemas.openxmlformats.org/drawingml/2006/main" w="19050">
            <a:solidFill>
              <a:srgbClr val="64E1DC"/>
            </a:solidFill>
          </a:ln>
        </p:spPr>
        <p:txBody>
          <a:bodyPr xmlns:a="http://schemas.openxmlformats.org/drawingml/2006/main" anchor="ctr"/>
          <a:lstStyle xmlns:a="http://schemas.openxmlformats.org/drawingml/2006/main"/>
          <a:p xmlns:a="http://schemas.openxmlformats.org/drawingml/2006/main">
            <a:pPr algn="ctr">
              <a:defRPr sz="1875" b="1">
                <a:solidFill>
                  <a:srgbClr val="F2F5FA"/>
                </a:solidFill>
                <a:latin typeface="DejaVu Sans"/>
                <a:ea typeface="DejaVu Sans"/>
                <a:cs typeface="DejaVu Sans"/>
              </a:defRPr>
            </a:pPr>
            <a:r>
              <a:rPr sz="1875" b="1">
                <a:solidFill>
                  <a:srgbClr val="F2F5FA"/>
                </a:solidFill>
                <a:latin typeface="DejaVu Sans"/>
                <a:ea typeface="DejaVu Sans"/>
                <a:cs typeface="DejaVu Sans"/>
              </a:rPr>
              <a:t>Fix &amp; retest</a:t>
            </a:r>
          </a:p>
        </p:txBody>
      </p:sp>
    </p:spTree>
    <p:extLst>
      <p:ext uri="{BB962C8B-B14F-4D97-AF65-F5344CB8AC3E}">
        <p14:creationId xmlns:p14="http://schemas.microsoft.com/office/powerpoint/2010/main" val="1923613839"/>
      </p:ext>
    </p:extLst>
  </p:cSld>
</p:sld>
</file>

<file path=ppt/slides/slide4.xml><?xml version="1.0" encoding="utf-8"?>
<p:sld xmlns:p="http://schemas.openxmlformats.org/presentationml/2006/main">
  <p:cSld>
    <p:bg>
      <p:bgPr>
        <a:solidFill xmlns:a="http://schemas.openxmlformats.org/drawingml/2006/main">
          <a:srgbClr val="10182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C010E40-2D7B-4B6D-9DBA-F75A853B2E2B}"/>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2F5FA"/>
                </a:solidFill>
                <a:latin typeface="DejaVu Sans"/>
                <a:ea typeface="DejaVu Sans"/>
                <a:cs typeface="DejaVu Sans"/>
              </a:defRPr>
            </a:pPr>
            <a:r>
              <a:rPr sz="3000" b="1">
                <a:solidFill>
                  <a:srgbClr val="F2F5FA"/>
                </a:solidFill>
                <a:latin typeface="DejaVu Sans"/>
                <a:ea typeface="DejaVu Sans"/>
                <a:cs typeface="DejaVu Sans"/>
              </a:rPr>
              <a:t>The emerging AI attack surface</a:t>
            </a:r>
          </a:p>
        </p:txBody>
      </p:sp>
      <p:sp>
        <p:nvSpPr>
          <p:cNvPr id="2" name="">
            <a:extLst xmlns:a="http://schemas.openxmlformats.org/drawingml/2006/main">
              <a:ext uri="{FF2B5EF4-FFF2-40B4-BE49-F238E27FC236}">
                <a16:creationId xmlns:a16="http://schemas.microsoft.com/office/drawing/2014/main" id="{D0B43680-ADDF-4B72-AD8B-2023CAD79C15}"/>
              </a:ext>
            </a:extLst>
          </p:cNvPr>
          <p:cNvSpPr>
            <a:spLocks xmlns:a="http://schemas.openxmlformats.org/drawingml/2006/main" noGrp="1"/>
          </p:cNvSpPr>
          <p:nvPr/>
        </p:nvSpPr>
        <p:spPr>
          <a:xfrm xmlns:a="http://schemas.openxmlformats.org/drawingml/2006/main">
            <a:off x="11144250" y="62865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5C2D3"/>
                </a:solidFill>
                <a:latin typeface="DejaVu Sans"/>
                <a:ea typeface="DejaVu Sans"/>
                <a:cs typeface="DejaVu Sans"/>
              </a:defRPr>
            </a:pPr>
            <a:r>
              <a:rPr sz="1275" b="0">
                <a:solidFill>
                  <a:srgbClr val="B5C2D3"/>
                </a:solidFill>
                <a:latin typeface="DejaVu Sans"/>
                <a:ea typeface="DejaVu Sans"/>
                <a:cs typeface="DejaVu Sans"/>
              </a:rPr>
              <a:t>04</a:t>
            </a:r>
          </a:p>
        </p:txBody>
      </p:sp>
      <p:sp>
        <p:nvSpPr>
          <p:cNvPr id="3" name="">
            <a:extLst xmlns:a="http://schemas.openxmlformats.org/drawingml/2006/main">
              <a:ext uri="{FF2B5EF4-FFF2-40B4-BE49-F238E27FC236}">
                <a16:creationId xmlns:a16="http://schemas.microsoft.com/office/drawing/2014/main" id="{132447ED-4D2A-4BB0-BC41-027D5E538BD0}"/>
              </a:ext>
            </a:extLst>
          </p:cNvPr>
          <p:cNvSpPr>
            <a:spLocks xmlns:a="http://schemas.openxmlformats.org/drawingml/2006/main" noGrp="1"/>
          </p:cNvSpPr>
          <p:nvPr/>
        </p:nvSpPr>
        <p:spPr>
          <a:xfrm xmlns:a="http://schemas.openxmlformats.org/drawingml/2006/main">
            <a:off x="609600" y="166687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4E1DC"/>
                </a:solidFill>
                <a:latin typeface="DejaVu Sans"/>
                <a:ea typeface="DejaVu Sans"/>
                <a:cs typeface="DejaVu Sans"/>
              </a:defRPr>
            </a:pPr>
            <a:r>
              <a:rPr sz="2175" b="1">
                <a:solidFill>
                  <a:srgbClr val="64E1DC"/>
                </a:solidFill>
                <a:latin typeface="DejaVu Sans"/>
                <a:ea typeface="DejaVu Sans"/>
                <a:cs typeface="DejaVu Sans"/>
              </a:rPr>
              <a:t>Where AI enters</a:t>
            </a:r>
          </a:p>
        </p:txBody>
      </p:sp>
      <p:sp>
        <p:nvSpPr>
          <p:cNvPr id="4" name="">
            <a:extLst xmlns:a="http://schemas.openxmlformats.org/drawingml/2006/main">
              <a:ext uri="{FF2B5EF4-FFF2-40B4-BE49-F238E27FC236}">
                <a16:creationId xmlns:a16="http://schemas.microsoft.com/office/drawing/2014/main" id="{432CB075-6F35-435C-A5CC-1EA9E432B4D7}"/>
              </a:ext>
            </a:extLst>
          </p:cNvPr>
          <p:cNvSpPr>
            <a:spLocks xmlns:a="http://schemas.openxmlformats.org/drawingml/2006/main" noGrp="1"/>
          </p:cNvSpPr>
          <p:nvPr/>
        </p:nvSpPr>
        <p:spPr>
          <a:xfrm xmlns:a="http://schemas.openxmlformats.org/drawingml/2006/main">
            <a:off x="5143500" y="16668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FFBE7A"/>
                </a:solidFill>
                <a:latin typeface="DejaVu Sans"/>
                <a:ea typeface="DejaVu Sans"/>
                <a:cs typeface="DejaVu Sans"/>
              </a:defRPr>
            </a:pPr>
            <a:r>
              <a:rPr sz="2175" b="1">
                <a:solidFill>
                  <a:srgbClr val="FFBE7A"/>
                </a:solidFill>
                <a:latin typeface="DejaVu Sans"/>
                <a:ea typeface="DejaVu Sans"/>
                <a:cs typeface="DejaVu Sans"/>
              </a:rPr>
              <a:t>What can go wrong</a:t>
            </a:r>
          </a:p>
        </p:txBody>
      </p:sp>
      <p:sp>
        <p:nvSpPr>
          <p:cNvPr id="5" name="">
            <a:extLst xmlns:a="http://schemas.openxmlformats.org/drawingml/2006/main">
              <a:ext uri="{FF2B5EF4-FFF2-40B4-BE49-F238E27FC236}">
                <a16:creationId xmlns:a16="http://schemas.microsoft.com/office/drawing/2014/main" id="{4228C3FB-5404-4440-9192-5C9B17DA8F0C}"/>
              </a:ext>
            </a:extLst>
          </p:cNvPr>
          <p:cNvSpPr>
            <a:spLocks xmlns:a="http://schemas.openxmlformats.org/drawingml/2006/main" noGrp="1"/>
          </p:cNvSpPr>
          <p:nvPr/>
        </p:nvSpPr>
        <p:spPr>
          <a:xfrm xmlns:a="http://schemas.openxmlformats.org/drawingml/2006/main">
            <a:off x="609600" y="2333625"/>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2F5FA"/>
                </a:solidFill>
                <a:latin typeface="DejaVu Sans"/>
                <a:ea typeface="DejaVu Sans"/>
                <a:cs typeface="DejaVu Sans"/>
              </a:defRPr>
            </a:pPr>
            <a:r>
              <a:rPr sz="1950" b="1">
                <a:solidFill>
                  <a:srgbClr val="F2F5FA"/>
                </a:solidFill>
                <a:latin typeface="DejaVu Sans"/>
                <a:ea typeface="DejaVu Sans"/>
                <a:cs typeface="DejaVu Sans"/>
              </a:rPr>
              <a:t>Employees use AI</a:t>
            </a:r>
          </a:p>
        </p:txBody>
      </p:sp>
      <p:sp>
        <p:nvSpPr>
          <p:cNvPr id="6" name="">
            <a:extLst xmlns:a="http://schemas.openxmlformats.org/drawingml/2006/main">
              <a:ext uri="{FF2B5EF4-FFF2-40B4-BE49-F238E27FC236}">
                <a16:creationId xmlns:a16="http://schemas.microsoft.com/office/drawing/2014/main" id="{7AE7DAA9-23CD-4C78-AD8F-CF92EFE5B44C}"/>
              </a:ext>
            </a:extLst>
          </p:cNvPr>
          <p:cNvSpPr>
            <a:spLocks xmlns:a="http://schemas.openxmlformats.org/drawingml/2006/main" noGrp="1"/>
          </p:cNvSpPr>
          <p:nvPr/>
        </p:nvSpPr>
        <p:spPr>
          <a:xfrm xmlns:a="http://schemas.openxmlformats.org/drawingml/2006/main">
            <a:off x="5143500" y="2333625"/>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2F5FA"/>
                </a:solidFill>
                <a:latin typeface="DejaVu Sans"/>
                <a:ea typeface="DejaVu Sans"/>
                <a:cs typeface="DejaVu Sans"/>
              </a:defRPr>
            </a:pPr>
            <a:r>
              <a:rPr sz="1950" b="0">
                <a:solidFill>
                  <a:srgbClr val="F2F5FA"/>
                </a:solidFill>
                <a:latin typeface="DejaVu Sans"/>
                <a:ea typeface="DejaVu Sans"/>
                <a:cs typeface="DejaVu Sans"/>
              </a:rPr>
              <a:t>Sensitive information leaves approved systems.</a:t>
            </a:r>
          </a:p>
        </p:txBody>
      </p:sp>
      <p:sp>
        <p:nvSpPr>
          <p:cNvPr id="7" name="">
            <a:extLst xmlns:a="http://schemas.openxmlformats.org/drawingml/2006/main">
              <a:ext uri="{FF2B5EF4-FFF2-40B4-BE49-F238E27FC236}">
                <a16:creationId xmlns:a16="http://schemas.microsoft.com/office/drawing/2014/main" id="{BBC87900-5FE2-4814-9291-82BD1F7D9FBA}"/>
              </a:ext>
            </a:extLst>
          </p:cNvPr>
          <p:cNvSpPr>
            <a:spLocks xmlns:a="http://schemas.openxmlformats.org/drawingml/2006/main" noGrp="1"/>
          </p:cNvSpPr>
          <p:nvPr/>
        </p:nvSpPr>
        <p:spPr>
          <a:xfrm xmlns:a="http://schemas.openxmlformats.org/drawingml/2006/main">
            <a:off x="609600" y="3190875"/>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2F5FA"/>
                </a:solidFill>
                <a:latin typeface="DejaVu Sans"/>
                <a:ea typeface="DejaVu Sans"/>
                <a:cs typeface="DejaVu Sans"/>
              </a:defRPr>
            </a:pPr>
            <a:r>
              <a:rPr sz="1950" b="1">
                <a:solidFill>
                  <a:srgbClr val="F2F5FA"/>
                </a:solidFill>
                <a:latin typeface="DejaVu Sans"/>
                <a:ea typeface="DejaVu Sans"/>
                <a:cs typeface="DejaVu Sans"/>
              </a:rPr>
              <a:t>Developers use generated code</a:t>
            </a:r>
          </a:p>
        </p:txBody>
      </p:sp>
      <p:sp>
        <p:nvSpPr>
          <p:cNvPr id="8" name="">
            <a:extLst xmlns:a="http://schemas.openxmlformats.org/drawingml/2006/main">
              <a:ext uri="{FF2B5EF4-FFF2-40B4-BE49-F238E27FC236}">
                <a16:creationId xmlns:a16="http://schemas.microsoft.com/office/drawing/2014/main" id="{41C611D6-25B0-4FFF-8137-20FC3FDEEFAB}"/>
              </a:ext>
            </a:extLst>
          </p:cNvPr>
          <p:cNvSpPr>
            <a:spLocks xmlns:a="http://schemas.openxmlformats.org/drawingml/2006/main" noGrp="1"/>
          </p:cNvSpPr>
          <p:nvPr/>
        </p:nvSpPr>
        <p:spPr>
          <a:xfrm xmlns:a="http://schemas.openxmlformats.org/drawingml/2006/main">
            <a:off x="5143500" y="3190875"/>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2F5FA"/>
                </a:solidFill>
                <a:latin typeface="DejaVu Sans"/>
                <a:ea typeface="DejaVu Sans"/>
                <a:cs typeface="DejaVu Sans"/>
              </a:defRPr>
            </a:pPr>
            <a:r>
              <a:rPr sz="1950" b="0">
                <a:solidFill>
                  <a:srgbClr val="F2F5FA"/>
                </a:solidFill>
                <a:latin typeface="DejaVu Sans"/>
                <a:ea typeface="DejaVu Sans"/>
                <a:cs typeface="DejaVu Sans"/>
              </a:rPr>
              <a:t>Insecure code or unverified packages enter a build.</a:t>
            </a:r>
          </a:p>
        </p:txBody>
      </p:sp>
      <p:sp>
        <p:nvSpPr>
          <p:cNvPr id="9" name="">
            <a:extLst xmlns:a="http://schemas.openxmlformats.org/drawingml/2006/main">
              <a:ext uri="{FF2B5EF4-FFF2-40B4-BE49-F238E27FC236}">
                <a16:creationId xmlns:a16="http://schemas.microsoft.com/office/drawing/2014/main" id="{5199B98E-3083-492F-BBBC-D9C1265F338A}"/>
              </a:ext>
            </a:extLst>
          </p:cNvPr>
          <p:cNvSpPr>
            <a:spLocks xmlns:a="http://schemas.openxmlformats.org/drawingml/2006/main" noGrp="1"/>
          </p:cNvSpPr>
          <p:nvPr/>
        </p:nvSpPr>
        <p:spPr>
          <a:xfrm xmlns:a="http://schemas.openxmlformats.org/drawingml/2006/main">
            <a:off x="609600" y="4048125"/>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2F5FA"/>
                </a:solidFill>
                <a:latin typeface="DejaVu Sans"/>
                <a:ea typeface="DejaVu Sans"/>
                <a:cs typeface="DejaVu Sans"/>
              </a:defRPr>
            </a:pPr>
            <a:r>
              <a:rPr sz="1950" b="1">
                <a:solidFill>
                  <a:srgbClr val="F2F5FA"/>
                </a:solidFill>
                <a:latin typeface="DejaVu Sans"/>
                <a:ea typeface="DejaVu Sans"/>
                <a:cs typeface="DejaVu Sans"/>
              </a:rPr>
              <a:t>Applications retrieve documents</a:t>
            </a:r>
          </a:p>
        </p:txBody>
      </p:sp>
      <p:sp>
        <p:nvSpPr>
          <p:cNvPr id="10" name="">
            <a:extLst xmlns:a="http://schemas.openxmlformats.org/drawingml/2006/main">
              <a:ext uri="{FF2B5EF4-FFF2-40B4-BE49-F238E27FC236}">
                <a16:creationId xmlns:a16="http://schemas.microsoft.com/office/drawing/2014/main" id="{05C7DA61-06BB-4F4A-B78C-E986E1AB59AC}"/>
              </a:ext>
            </a:extLst>
          </p:cNvPr>
          <p:cNvSpPr>
            <a:spLocks xmlns:a="http://schemas.openxmlformats.org/drawingml/2006/main" noGrp="1"/>
          </p:cNvSpPr>
          <p:nvPr/>
        </p:nvSpPr>
        <p:spPr>
          <a:xfrm xmlns:a="http://schemas.openxmlformats.org/drawingml/2006/main">
            <a:off x="5143500" y="4048125"/>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2F5FA"/>
                </a:solidFill>
                <a:latin typeface="DejaVu Sans"/>
                <a:ea typeface="DejaVu Sans"/>
                <a:cs typeface="DejaVu Sans"/>
              </a:defRPr>
            </a:pPr>
            <a:r>
              <a:rPr sz="1950" b="0">
                <a:solidFill>
                  <a:srgbClr val="F2F5FA"/>
                </a:solidFill>
                <a:latin typeface="DejaVu Sans"/>
                <a:ea typeface="DejaVu Sans"/>
                <a:cs typeface="DejaVu Sans"/>
              </a:rPr>
              <a:t>Malicious content influences model instructions.</a:t>
            </a:r>
          </a:p>
        </p:txBody>
      </p:sp>
      <p:sp>
        <p:nvSpPr>
          <p:cNvPr id="11" name="">
            <a:extLst xmlns:a="http://schemas.openxmlformats.org/drawingml/2006/main">
              <a:ext uri="{FF2B5EF4-FFF2-40B4-BE49-F238E27FC236}">
                <a16:creationId xmlns:a16="http://schemas.microsoft.com/office/drawing/2014/main" id="{57969636-A6CB-4CA1-A308-6A8724EB6B6C}"/>
              </a:ext>
            </a:extLst>
          </p:cNvPr>
          <p:cNvSpPr>
            <a:spLocks xmlns:a="http://schemas.openxmlformats.org/drawingml/2006/main" noGrp="1"/>
          </p:cNvSpPr>
          <p:nvPr/>
        </p:nvSpPr>
        <p:spPr>
          <a:xfrm xmlns:a="http://schemas.openxmlformats.org/drawingml/2006/main">
            <a:off x="609600" y="4905375"/>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2F5FA"/>
                </a:solidFill>
                <a:latin typeface="DejaVu Sans"/>
                <a:ea typeface="DejaVu Sans"/>
                <a:cs typeface="DejaVu Sans"/>
              </a:defRPr>
            </a:pPr>
            <a:r>
              <a:rPr sz="1950" b="1">
                <a:solidFill>
                  <a:srgbClr val="F2F5FA"/>
                </a:solidFill>
                <a:latin typeface="DejaVu Sans"/>
                <a:ea typeface="DejaVu Sans"/>
                <a:cs typeface="DejaVu Sans"/>
              </a:rPr>
              <a:t>Agents invoke tools</a:t>
            </a:r>
          </a:p>
        </p:txBody>
      </p:sp>
      <p:sp>
        <p:nvSpPr>
          <p:cNvPr id="12" name="">
            <a:extLst xmlns:a="http://schemas.openxmlformats.org/drawingml/2006/main">
              <a:ext uri="{FF2B5EF4-FFF2-40B4-BE49-F238E27FC236}">
                <a16:creationId xmlns:a16="http://schemas.microsoft.com/office/drawing/2014/main" id="{047FF969-D3C8-431F-B7B8-45C9312E1C2F}"/>
              </a:ext>
            </a:extLst>
          </p:cNvPr>
          <p:cNvSpPr>
            <a:spLocks xmlns:a="http://schemas.openxmlformats.org/drawingml/2006/main" noGrp="1"/>
          </p:cNvSpPr>
          <p:nvPr/>
        </p:nvSpPr>
        <p:spPr>
          <a:xfrm xmlns:a="http://schemas.openxmlformats.org/drawingml/2006/main">
            <a:off x="5143500" y="4905375"/>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2F5FA"/>
                </a:solidFill>
                <a:latin typeface="DejaVu Sans"/>
                <a:ea typeface="DejaVu Sans"/>
                <a:cs typeface="DejaVu Sans"/>
              </a:defRPr>
            </a:pPr>
            <a:r>
              <a:rPr sz="1950" b="0">
                <a:solidFill>
                  <a:srgbClr val="F2F5FA"/>
                </a:solidFill>
                <a:latin typeface="DejaVu Sans"/>
                <a:ea typeface="DejaVu Sans"/>
                <a:cs typeface="DejaVu Sans"/>
              </a:rPr>
              <a:t>Broad permissions turn bad output into actions.</a:t>
            </a:r>
          </a:p>
        </p:txBody>
      </p:sp>
    </p:spTree>
    <p:extLst>
      <p:ext uri="{BB962C8B-B14F-4D97-AF65-F5344CB8AC3E}">
        <p14:creationId xmlns:p14="http://schemas.microsoft.com/office/powerpoint/2010/main" val="75400757"/>
      </p:ext>
    </p:extLst>
  </p:cSld>
</p:sld>
</file>

<file path=ppt/slides/slide5.xml><?xml version="1.0" encoding="utf-8"?>
<p:sld xmlns:p="http://schemas.openxmlformats.org/presentationml/2006/main">
  <p:cSld>
    <p:bg>
      <p:bgPr>
        <a:solidFill xmlns:a="http://schemas.openxmlformats.org/drawingml/2006/main">
          <a:srgbClr val="101827"/>
        </a:solidFill>
      </p:bgPr>
    </p:bg>
    <p:spTree>
      <p:nvGrpSpPr>
        <p:cNvPr id="1" name=""/>
        <p:cNvGrpSpPr/>
        <p:nvPr/>
      </p:nvGrpSpPr>
      <p:grpSpPr>
        <a:xfrm xmlns:a="http://schemas.openxmlformats.org/drawingml/2006/main"/>
      </p:grpSpPr>
      <p:cxnSp>
        <p:nvCxnSpPr>
          <p:cNvPr id="16" name=""/>
          <p:cNvCxnSpPr>
            <a:stCxn xmlns:a="http://schemas.openxmlformats.org/drawingml/2006/main" id="12" idx="0"/>
            <a:endCxn xmlns:a="http://schemas.openxmlformats.org/drawingml/2006/main" id="4" idx="2"/>
          </p:cNvCxnSpPr>
          <p:nvPr/>
        </p:nvCxnSpPr>
        <p:spPr>
          <a:xfrm xmlns:a="http://schemas.openxmlformats.org/drawingml/2006/main" flipV="1">
            <a:off x="1752600" y="2476500"/>
            <a:ext cx="3248025" cy="952500"/>
          </a:xfrm>
          <a:prstGeom xmlns:a="http://schemas.openxmlformats.org/drawingml/2006/main" prst="straightConnector1">
            <a:avLst/>
          </a:prstGeom>
          <a:ln xmlns:a="http://schemas.openxmlformats.org/drawingml/2006/main" w="19050">
            <a:solidFill>
              <a:srgbClr val="64E1DC"/>
            </a:solidFill>
            <a:tailEnd type="arrow" w="med" len="med"/>
          </a:ln>
        </p:spPr>
      </p:cxnSp>
      <p:cxnSp>
        <p:nvCxnSpPr>
          <p:cNvPr id="17" name=""/>
          <p:cNvCxnSpPr>
            <a:stCxn xmlns:a="http://schemas.openxmlformats.org/drawingml/2006/main" id="5" idx="2"/>
            <a:endCxn xmlns:a="http://schemas.openxmlformats.org/drawingml/2006/main" id="6" idx="0"/>
          </p:cNvCxnSpPr>
          <p:nvPr/>
        </p:nvCxnSpPr>
        <p:spPr>
          <a:xfrm xmlns:a="http://schemas.openxmlformats.org/drawingml/2006/main">
            <a:off x="8258175" y="2476500"/>
            <a:ext cx="0" cy="952500"/>
          </a:xfrm>
          <a:prstGeom xmlns:a="http://schemas.openxmlformats.org/drawingml/2006/main" prst="straightConnector1">
            <a:avLst/>
          </a:prstGeom>
          <a:ln xmlns:a="http://schemas.openxmlformats.org/drawingml/2006/main" w="19050">
            <a:solidFill>
              <a:srgbClr val="64E1DC"/>
            </a:solidFill>
            <a:tailEnd type="arrow" w="med" len="med"/>
          </a:ln>
        </p:spPr>
      </p:cxnSp>
      <p:cxnSp>
        <p:nvCxnSpPr>
          <p:cNvPr id="18" name=""/>
          <p:cNvCxnSpPr>
            <a:stCxn xmlns:a="http://schemas.openxmlformats.org/drawingml/2006/main" id="4" idx="3"/>
            <a:endCxn xmlns:a="http://schemas.openxmlformats.org/drawingml/2006/main" id="5" idx="1"/>
          </p:cNvCxnSpPr>
          <p:nvPr/>
        </p:nvCxnSpPr>
        <p:spPr>
          <a:xfrm xmlns:a="http://schemas.openxmlformats.org/drawingml/2006/main">
            <a:off x="6143625" y="2119313"/>
            <a:ext cx="971550" cy="0"/>
          </a:xfrm>
          <a:prstGeom xmlns:a="http://schemas.openxmlformats.org/drawingml/2006/main" prst="straightConnector1">
            <a:avLst/>
          </a:prstGeom>
          <a:ln xmlns:a="http://schemas.openxmlformats.org/drawingml/2006/main" w="19050">
            <a:solidFill>
              <a:srgbClr val="64E1DC"/>
            </a:solidFill>
            <a:tailEnd type="arrow" w="med" len="med"/>
          </a:ln>
        </p:spPr>
      </p:cxnSp>
      <p:cxnSp>
        <p:nvCxnSpPr>
          <p:cNvPr id="19" name=""/>
          <p:cNvCxnSpPr>
            <a:stCxn xmlns:a="http://schemas.openxmlformats.org/drawingml/2006/main" id="3" idx="3"/>
            <a:endCxn xmlns:a="http://schemas.openxmlformats.org/drawingml/2006/main" id="4" idx="1"/>
          </p:cNvCxnSpPr>
          <p:nvPr/>
        </p:nvCxnSpPr>
        <p:spPr>
          <a:xfrm xmlns:a="http://schemas.openxmlformats.org/drawingml/2006/main">
            <a:off x="2895600" y="2119313"/>
            <a:ext cx="962025" cy="0"/>
          </a:xfrm>
          <a:prstGeom xmlns:a="http://schemas.openxmlformats.org/drawingml/2006/main" prst="straightConnector1">
            <a:avLst/>
          </a:prstGeom>
          <a:ln xmlns:a="http://schemas.openxmlformats.org/drawingml/2006/main" w="19050">
            <a:solidFill>
              <a:srgbClr val="64E1DC"/>
            </a:solidFill>
            <a:tailEnd type="arrow" w="med" len="med"/>
          </a:ln>
        </p:spPr>
      </p:cxnSp>
      <p:sp>
        <p:nvSpPr>
          <p:cNvPr id="20" name="">
            <a:extLst xmlns:a="http://schemas.openxmlformats.org/drawingml/2006/main">
              <a:ext uri="{FF2B5EF4-FFF2-40B4-BE49-F238E27FC236}">
                <a16:creationId xmlns:a16="http://schemas.microsoft.com/office/drawing/2014/main" id="{A91E9AD2-7266-42FC-9466-A15F88A93FF3}"/>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2F5FA"/>
                </a:solidFill>
                <a:latin typeface="DejaVu Sans"/>
                <a:ea typeface="DejaVu Sans"/>
                <a:cs typeface="DejaVu Sans"/>
              </a:defRPr>
            </a:pPr>
            <a:r>
              <a:rPr sz="3000" b="1">
                <a:solidFill>
                  <a:srgbClr val="F2F5FA"/>
                </a:solidFill>
                <a:latin typeface="DejaVu Sans"/>
                <a:ea typeface="DejaVu Sans"/>
                <a:cs typeface="DejaVu Sans"/>
              </a:rPr>
              <a:t>An agent has an identity and privileges</a:t>
            </a:r>
          </a:p>
        </p:txBody>
      </p:sp>
      <p:sp>
        <p:nvSpPr>
          <p:cNvPr id="2" name="">
            <a:extLst xmlns:a="http://schemas.openxmlformats.org/drawingml/2006/main">
              <a:ext uri="{FF2B5EF4-FFF2-40B4-BE49-F238E27FC236}">
                <a16:creationId xmlns:a16="http://schemas.microsoft.com/office/drawing/2014/main" id="{750E88C7-12FE-4543-943E-86D2D608EF59}"/>
              </a:ext>
            </a:extLst>
          </p:cNvPr>
          <p:cNvSpPr>
            <a:spLocks xmlns:a="http://schemas.openxmlformats.org/drawingml/2006/main" noGrp="1"/>
          </p:cNvSpPr>
          <p:nvPr/>
        </p:nvSpPr>
        <p:spPr>
          <a:xfrm xmlns:a="http://schemas.openxmlformats.org/drawingml/2006/main">
            <a:off x="11144250" y="62865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5C2D3"/>
                </a:solidFill>
                <a:latin typeface="DejaVu Sans"/>
                <a:ea typeface="DejaVu Sans"/>
                <a:cs typeface="DejaVu Sans"/>
              </a:defRPr>
            </a:pPr>
            <a:r>
              <a:rPr sz="1275" b="0">
                <a:solidFill>
                  <a:srgbClr val="B5C2D3"/>
                </a:solidFill>
                <a:latin typeface="DejaVu Sans"/>
                <a:ea typeface="DejaVu Sans"/>
                <a:cs typeface="DejaVu Sans"/>
              </a:rPr>
              <a:t>05</a:t>
            </a:r>
          </a:p>
        </p:txBody>
      </p:sp>
      <p:sp>
        <p:nvSpPr>
          <p:cNvPr id="3" name="">
            <a:extLst xmlns:a="http://schemas.openxmlformats.org/drawingml/2006/main">
              <a:ext uri="{FF2B5EF4-FFF2-40B4-BE49-F238E27FC236}">
                <a16:creationId xmlns:a16="http://schemas.microsoft.com/office/drawing/2014/main" id="{2690A973-694A-40C0-BA24-05ED3607F920}"/>
              </a:ext>
            </a:extLst>
          </p:cNvPr>
          <p:cNvSpPr>
            <a:spLocks xmlns:a="http://schemas.openxmlformats.org/drawingml/2006/main" noGrp="1"/>
          </p:cNvSpPr>
          <p:nvPr/>
        </p:nvSpPr>
        <p:spPr>
          <a:xfrm xmlns:a="http://schemas.openxmlformats.org/drawingml/2006/main">
            <a:off x="609600" y="1762125"/>
            <a:ext cx="2286000" cy="714375"/>
          </a:xfrm>
          <a:prstGeom xmlns:a="http://schemas.openxmlformats.org/drawingml/2006/main" prst="rect">
            <a:avLst/>
          </a:prstGeom>
          <a:solidFill xmlns:a="http://schemas.openxmlformats.org/drawingml/2006/main">
            <a:srgbClr val="17263B"/>
          </a:solidFill>
          <a:ln xmlns:a="http://schemas.openxmlformats.org/drawingml/2006/main" w="19050">
            <a:solidFill>
              <a:srgbClr val="64E1DC"/>
            </a:solidFill>
          </a:ln>
        </p:spPr>
        <p:txBody>
          <a:bodyPr xmlns:a="http://schemas.openxmlformats.org/drawingml/2006/main" anchor="ctr"/>
          <a:lstStyle xmlns:a="http://schemas.openxmlformats.org/drawingml/2006/main"/>
          <a:p xmlns:a="http://schemas.openxmlformats.org/drawingml/2006/main">
            <a:pPr algn="ctr">
              <a:defRPr sz="1875" b="1">
                <a:solidFill>
                  <a:srgbClr val="F2F5FA"/>
                </a:solidFill>
                <a:latin typeface="DejaVu Sans"/>
                <a:ea typeface="DejaVu Sans"/>
                <a:cs typeface="DejaVu Sans"/>
              </a:defRPr>
            </a:pPr>
            <a:r>
              <a:rPr sz="1875" b="1">
                <a:solidFill>
                  <a:srgbClr val="F2F5FA"/>
                </a:solidFill>
                <a:latin typeface="DejaVu Sans"/>
                <a:ea typeface="DejaVu Sans"/>
                <a:cs typeface="DejaVu Sans"/>
              </a:rPr>
              <a:t>User request</a:t>
            </a:r>
          </a:p>
        </p:txBody>
      </p:sp>
      <p:sp>
        <p:nvSpPr>
          <p:cNvPr id="4" name="">
            <a:extLst xmlns:a="http://schemas.openxmlformats.org/drawingml/2006/main">
              <a:ext uri="{FF2B5EF4-FFF2-40B4-BE49-F238E27FC236}">
                <a16:creationId xmlns:a16="http://schemas.microsoft.com/office/drawing/2014/main" id="{5E7A9432-A44C-4BB9-8A5B-15A91FBF68F1}"/>
              </a:ext>
            </a:extLst>
          </p:cNvPr>
          <p:cNvSpPr>
            <a:spLocks xmlns:a="http://schemas.openxmlformats.org/drawingml/2006/main" noGrp="1"/>
          </p:cNvSpPr>
          <p:nvPr/>
        </p:nvSpPr>
        <p:spPr>
          <a:xfrm xmlns:a="http://schemas.openxmlformats.org/drawingml/2006/main">
            <a:off x="3857625" y="1762125"/>
            <a:ext cx="2286000" cy="714375"/>
          </a:xfrm>
          <a:prstGeom xmlns:a="http://schemas.openxmlformats.org/drawingml/2006/main" prst="rect">
            <a:avLst/>
          </a:prstGeom>
          <a:solidFill xmlns:a="http://schemas.openxmlformats.org/drawingml/2006/main">
            <a:srgbClr val="17263B"/>
          </a:solidFill>
          <a:ln xmlns:a="http://schemas.openxmlformats.org/drawingml/2006/main" w="19050">
            <a:solidFill>
              <a:srgbClr val="64E1DC"/>
            </a:solidFill>
          </a:ln>
        </p:spPr>
        <p:txBody>
          <a:bodyPr xmlns:a="http://schemas.openxmlformats.org/drawingml/2006/main" anchor="ctr"/>
          <a:lstStyle xmlns:a="http://schemas.openxmlformats.org/drawingml/2006/main"/>
          <a:p xmlns:a="http://schemas.openxmlformats.org/drawingml/2006/main">
            <a:pPr algn="ctr">
              <a:defRPr sz="1875" b="1">
                <a:solidFill>
                  <a:srgbClr val="F2F5FA"/>
                </a:solidFill>
                <a:latin typeface="DejaVu Sans"/>
                <a:ea typeface="DejaVu Sans"/>
                <a:cs typeface="DejaVu Sans"/>
              </a:defRPr>
            </a:pPr>
            <a:r>
              <a:rPr sz="1875" b="1">
                <a:solidFill>
                  <a:srgbClr val="F2F5FA"/>
                </a:solidFill>
                <a:latin typeface="DejaVu Sans"/>
                <a:ea typeface="DejaVu Sans"/>
                <a:cs typeface="DejaVu Sans"/>
              </a:rPr>
              <a:t>Agent</a:t>
            </a:r>
          </a:p>
        </p:txBody>
      </p:sp>
      <p:sp>
        <p:nvSpPr>
          <p:cNvPr id="5" name="">
            <a:extLst xmlns:a="http://schemas.openxmlformats.org/drawingml/2006/main">
              <a:ext uri="{FF2B5EF4-FFF2-40B4-BE49-F238E27FC236}">
                <a16:creationId xmlns:a16="http://schemas.microsoft.com/office/drawing/2014/main" id="{F86D3C02-BEDD-41F5-9B2C-AB402B40A331}"/>
              </a:ext>
            </a:extLst>
          </p:cNvPr>
          <p:cNvSpPr>
            <a:spLocks xmlns:a="http://schemas.openxmlformats.org/drawingml/2006/main" noGrp="1"/>
          </p:cNvSpPr>
          <p:nvPr/>
        </p:nvSpPr>
        <p:spPr>
          <a:xfrm xmlns:a="http://schemas.openxmlformats.org/drawingml/2006/main">
            <a:off x="7115175" y="1762125"/>
            <a:ext cx="2286000" cy="714375"/>
          </a:xfrm>
          <a:prstGeom xmlns:a="http://schemas.openxmlformats.org/drawingml/2006/main" prst="rect">
            <a:avLst/>
          </a:prstGeom>
          <a:solidFill xmlns:a="http://schemas.openxmlformats.org/drawingml/2006/main">
            <a:srgbClr val="17263B"/>
          </a:solidFill>
          <a:ln xmlns:a="http://schemas.openxmlformats.org/drawingml/2006/main" w="19050">
            <a:solidFill>
              <a:srgbClr val="64E1DC"/>
            </a:solidFill>
          </a:ln>
        </p:spPr>
        <p:txBody>
          <a:bodyPr xmlns:a="http://schemas.openxmlformats.org/drawingml/2006/main" anchor="ctr"/>
          <a:lstStyle xmlns:a="http://schemas.openxmlformats.org/drawingml/2006/main"/>
          <a:p xmlns:a="http://schemas.openxmlformats.org/drawingml/2006/main">
            <a:pPr algn="ctr">
              <a:defRPr sz="1875" b="1">
                <a:solidFill>
                  <a:srgbClr val="F2F5FA"/>
                </a:solidFill>
                <a:latin typeface="DejaVu Sans"/>
                <a:ea typeface="DejaVu Sans"/>
                <a:cs typeface="DejaVu Sans"/>
              </a:defRPr>
            </a:pPr>
            <a:r>
              <a:rPr sz="1875" b="1">
                <a:solidFill>
                  <a:srgbClr val="F2F5FA"/>
                </a:solidFill>
                <a:latin typeface="DejaVu Sans"/>
                <a:ea typeface="DejaVu Sans"/>
                <a:cs typeface="DejaVu Sans"/>
              </a:rPr>
              <a:t>Tools &amp; APIs</a:t>
            </a:r>
          </a:p>
        </p:txBody>
      </p:sp>
      <p:sp>
        <p:nvSpPr>
          <p:cNvPr id="6" name="">
            <a:extLst xmlns:a="http://schemas.openxmlformats.org/drawingml/2006/main">
              <a:ext uri="{FF2B5EF4-FFF2-40B4-BE49-F238E27FC236}">
                <a16:creationId xmlns:a16="http://schemas.microsoft.com/office/drawing/2014/main" id="{E9D7ED99-DA05-41F8-9BD2-6C663E43EC40}"/>
              </a:ext>
            </a:extLst>
          </p:cNvPr>
          <p:cNvSpPr>
            <a:spLocks xmlns:a="http://schemas.openxmlformats.org/drawingml/2006/main" noGrp="1"/>
          </p:cNvSpPr>
          <p:nvPr/>
        </p:nvSpPr>
        <p:spPr>
          <a:xfrm xmlns:a="http://schemas.openxmlformats.org/drawingml/2006/main">
            <a:off x="7115175" y="3429000"/>
            <a:ext cx="2286000" cy="714375"/>
          </a:xfrm>
          <a:prstGeom xmlns:a="http://schemas.openxmlformats.org/drawingml/2006/main" prst="rect">
            <a:avLst/>
          </a:prstGeom>
          <a:solidFill xmlns:a="http://schemas.openxmlformats.org/drawingml/2006/main">
            <a:srgbClr val="17263B"/>
          </a:solidFill>
          <a:ln xmlns:a="http://schemas.openxmlformats.org/drawingml/2006/main" w="19050">
            <a:solidFill>
              <a:srgbClr val="64E1DC"/>
            </a:solidFill>
          </a:ln>
        </p:spPr>
        <p:txBody>
          <a:bodyPr xmlns:a="http://schemas.openxmlformats.org/drawingml/2006/main" anchor="ctr"/>
          <a:lstStyle xmlns:a="http://schemas.openxmlformats.org/drawingml/2006/main"/>
          <a:p xmlns:a="http://schemas.openxmlformats.org/drawingml/2006/main">
            <a:pPr algn="ctr">
              <a:defRPr sz="1875" b="1">
                <a:solidFill>
                  <a:srgbClr val="F2F5FA"/>
                </a:solidFill>
                <a:latin typeface="DejaVu Sans"/>
                <a:ea typeface="DejaVu Sans"/>
                <a:cs typeface="DejaVu Sans"/>
              </a:defRPr>
            </a:pPr>
            <a:r>
              <a:rPr sz="1875" b="1">
                <a:solidFill>
                  <a:srgbClr val="F2F5FA"/>
                </a:solidFill>
                <a:latin typeface="DejaVu Sans"/>
                <a:ea typeface="DejaVu Sans"/>
                <a:cs typeface="DejaVu Sans"/>
              </a:rPr>
              <a:t>Business systems</a:t>
            </a:r>
          </a:p>
        </p:txBody>
      </p:sp>
      <p:sp>
        <p:nvSpPr>
          <p:cNvPr id="10" name="">
            <a:extLst xmlns:a="http://schemas.openxmlformats.org/drawingml/2006/main">
              <a:ext uri="{FF2B5EF4-FFF2-40B4-BE49-F238E27FC236}">
                <a16:creationId xmlns:a16="http://schemas.microsoft.com/office/drawing/2014/main" id="{FBE53274-F29B-44CB-B86C-9A9FB3A749DE}"/>
              </a:ext>
            </a:extLst>
          </p:cNvPr>
          <p:cNvSpPr>
            <a:spLocks xmlns:a="http://schemas.openxmlformats.org/drawingml/2006/main" noGrp="1"/>
          </p:cNvSpPr>
          <p:nvPr/>
        </p:nvSpPr>
        <p:spPr>
          <a:xfrm xmlns:a="http://schemas.openxmlformats.org/drawingml/2006/main">
            <a:off x="3857625" y="342900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BE7A"/>
                </a:solidFill>
                <a:latin typeface="DejaVu Sans"/>
                <a:ea typeface="DejaVu Sans"/>
                <a:cs typeface="DejaVu Sans"/>
              </a:defRPr>
            </a:pPr>
            <a:r>
              <a:rPr sz="1950" b="1">
                <a:solidFill>
                  <a:srgbClr val="FFBE7A"/>
                </a:solidFill>
                <a:latin typeface="DejaVu Sans"/>
                <a:ea typeface="DejaVu Sans"/>
                <a:cs typeface="DejaVu Sans"/>
              </a:rPr>
              <a:t>Untrusted context</a:t>
            </a:r>
          </a:p>
        </p:txBody>
      </p:sp>
      <p:sp>
        <p:nvSpPr>
          <p:cNvPr id="11" name="">
            <a:extLst xmlns:a="http://schemas.openxmlformats.org/drawingml/2006/main">
              <a:ext uri="{FF2B5EF4-FFF2-40B4-BE49-F238E27FC236}">
                <a16:creationId xmlns:a16="http://schemas.microsoft.com/office/drawing/2014/main" id="{D5F0039C-B49B-4F11-9841-AB9D81456B48}"/>
              </a:ext>
            </a:extLst>
          </p:cNvPr>
          <p:cNvSpPr>
            <a:spLocks xmlns:a="http://schemas.openxmlformats.org/drawingml/2006/main" noGrp="1"/>
          </p:cNvSpPr>
          <p:nvPr/>
        </p:nvSpPr>
        <p:spPr>
          <a:xfrm xmlns:a="http://schemas.openxmlformats.org/drawingml/2006/main">
            <a:off x="3857625" y="3952875"/>
            <a:ext cx="276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2F5FA"/>
                </a:solidFill>
                <a:latin typeface="DejaVu Sans"/>
                <a:ea typeface="DejaVu Sans"/>
                <a:cs typeface="DejaVu Sans"/>
              </a:defRPr>
            </a:pPr>
            <a:r>
              <a:rPr sz="1875" b="0">
                <a:solidFill>
                  <a:srgbClr val="F2F5FA"/>
                </a:solidFill>
                <a:latin typeface="DejaVu Sans"/>
                <a:ea typeface="DejaVu Sans"/>
                <a:cs typeface="DejaVu Sans"/>
              </a:rPr>
              <a:t>Documents, memory</a:t>
            </a:r>
          </a:p>
          <a:p xmlns:a="http://schemas.openxmlformats.org/drawingml/2006/main">
            <a:pPr>
              <a:defRPr sz="1875" b="0">
                <a:solidFill>
                  <a:srgbClr val="F2F5FA"/>
                </a:solidFill>
                <a:latin typeface="DejaVu Sans"/>
                <a:ea typeface="DejaVu Sans"/>
                <a:cs typeface="DejaVu Sans"/>
              </a:defRPr>
            </a:pPr>
            <a:r>
              <a:rPr sz="1875" b="0">
                <a:solidFill>
                  <a:srgbClr val="F2F5FA"/>
                </a:solidFill>
                <a:latin typeface="DejaVu Sans"/>
                <a:ea typeface="DejaVu Sans"/>
                <a:cs typeface="DejaVu Sans"/>
              </a:rPr>
              <a:t>and tool responses</a:t>
            </a:r>
          </a:p>
        </p:txBody>
      </p:sp>
      <p:sp>
        <p:nvSpPr>
          <p:cNvPr id="12" name="">
            <a:extLst xmlns:a="http://schemas.openxmlformats.org/drawingml/2006/main">
              <a:ext uri="{FF2B5EF4-FFF2-40B4-BE49-F238E27FC236}">
                <a16:creationId xmlns:a16="http://schemas.microsoft.com/office/drawing/2014/main" id="{92D4A100-9FEF-4A9E-BE8C-C1544BD9D9C2}"/>
              </a:ext>
            </a:extLst>
          </p:cNvPr>
          <p:cNvSpPr>
            <a:spLocks xmlns:a="http://schemas.openxmlformats.org/drawingml/2006/main" noGrp="1"/>
          </p:cNvSpPr>
          <p:nvPr/>
        </p:nvSpPr>
        <p:spPr>
          <a:xfrm xmlns:a="http://schemas.openxmlformats.org/drawingml/2006/main">
            <a:off x="609600" y="3429000"/>
            <a:ext cx="2286000" cy="714375"/>
          </a:xfrm>
          <a:prstGeom xmlns:a="http://schemas.openxmlformats.org/drawingml/2006/main" prst="rect">
            <a:avLst/>
          </a:prstGeom>
          <a:solidFill xmlns:a="http://schemas.openxmlformats.org/drawingml/2006/main">
            <a:srgbClr val="17263B"/>
          </a:solidFill>
          <a:ln xmlns:a="http://schemas.openxmlformats.org/drawingml/2006/main" w="19050">
            <a:solidFill>
              <a:srgbClr val="FFBE7A"/>
            </a:solidFill>
          </a:ln>
        </p:spPr>
        <p:txBody>
          <a:bodyPr xmlns:a="http://schemas.openxmlformats.org/drawingml/2006/main" anchor="ctr"/>
          <a:lstStyle xmlns:a="http://schemas.openxmlformats.org/drawingml/2006/main"/>
          <a:p xmlns:a="http://schemas.openxmlformats.org/drawingml/2006/main">
            <a:pPr algn="ctr">
              <a:defRPr sz="1875" b="1">
                <a:solidFill>
                  <a:srgbClr val="F2F5FA"/>
                </a:solidFill>
                <a:latin typeface="DejaVu Sans"/>
                <a:ea typeface="DejaVu Sans"/>
                <a:cs typeface="DejaVu Sans"/>
              </a:defRPr>
            </a:pPr>
            <a:r>
              <a:rPr sz="1875" b="1">
                <a:solidFill>
                  <a:srgbClr val="F2F5FA"/>
                </a:solidFill>
                <a:latin typeface="DejaVu Sans"/>
                <a:ea typeface="DejaVu Sans"/>
                <a:cs typeface="DejaVu Sans"/>
              </a:rPr>
              <a:t>Retrieved content</a:t>
            </a:r>
          </a:p>
        </p:txBody>
      </p:sp>
      <p:sp>
        <p:nvSpPr>
          <p:cNvPr id="14" name="">
            <a:extLst xmlns:a="http://schemas.openxmlformats.org/drawingml/2006/main">
              <a:ext uri="{FF2B5EF4-FFF2-40B4-BE49-F238E27FC236}">
                <a16:creationId xmlns:a16="http://schemas.microsoft.com/office/drawing/2014/main" id="{AB028664-F96A-4BD5-A31A-CB7BE1E4610C}"/>
              </a:ext>
            </a:extLst>
          </p:cNvPr>
          <p:cNvSpPr>
            <a:spLocks xmlns:a="http://schemas.openxmlformats.org/drawingml/2006/main" noGrp="1"/>
          </p:cNvSpPr>
          <p:nvPr/>
        </p:nvSpPr>
        <p:spPr>
          <a:xfrm xmlns:a="http://schemas.openxmlformats.org/drawingml/2006/main">
            <a:off x="609600" y="5238750"/>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64E1DC"/>
                </a:solidFill>
                <a:latin typeface="DejaVu Sans"/>
                <a:ea typeface="DejaVu Sans"/>
                <a:cs typeface="DejaVu Sans"/>
              </a:defRPr>
            </a:pPr>
            <a:r>
              <a:rPr sz="2250" b="1">
                <a:solidFill>
                  <a:srgbClr val="64E1DC"/>
                </a:solidFill>
                <a:latin typeface="DejaVu Sans"/>
                <a:ea typeface="DejaVu Sans"/>
                <a:cs typeface="DejaVu Sans"/>
              </a:rPr>
              <a:t>Controls at the action boundary</a:t>
            </a:r>
          </a:p>
        </p:txBody>
      </p:sp>
      <p:sp>
        <p:nvSpPr>
          <p:cNvPr id="15" name="">
            <a:extLst xmlns:a="http://schemas.openxmlformats.org/drawingml/2006/main">
              <a:ext uri="{FF2B5EF4-FFF2-40B4-BE49-F238E27FC236}">
                <a16:creationId xmlns:a16="http://schemas.microsoft.com/office/drawing/2014/main" id="{D09A740E-ED25-4BF4-9D64-22EAD3D9B9A1}"/>
              </a:ext>
            </a:extLst>
          </p:cNvPr>
          <p:cNvSpPr>
            <a:spLocks xmlns:a="http://schemas.openxmlformats.org/drawingml/2006/main" noGrp="1"/>
          </p:cNvSpPr>
          <p:nvPr/>
        </p:nvSpPr>
        <p:spPr>
          <a:xfrm xmlns:a="http://schemas.openxmlformats.org/drawingml/2006/main">
            <a:off x="609600" y="57626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2F5FA"/>
                </a:solidFill>
                <a:latin typeface="DejaVu Sans"/>
                <a:ea typeface="DejaVu Sans"/>
                <a:cs typeface="DejaVu Sans"/>
              </a:defRPr>
            </a:pPr>
            <a:r>
              <a:rPr sz="1950" b="0">
                <a:solidFill>
                  <a:srgbClr val="F2F5FA"/>
                </a:solidFill>
                <a:latin typeface="DejaVu Sans"/>
                <a:ea typeface="DejaVu Sans"/>
                <a:cs typeface="DejaVu Sans"/>
              </a:rPr>
              <a:t>Least privilege   /   Explicit authorization   /   Action logs</a:t>
            </a:r>
          </a:p>
        </p:txBody>
      </p:sp>
    </p:spTree>
    <p:extLst>
      <p:ext uri="{BB962C8B-B14F-4D97-AF65-F5344CB8AC3E}">
        <p14:creationId xmlns:p14="http://schemas.microsoft.com/office/powerpoint/2010/main" val="2067587354"/>
      </p:ext>
    </p:extLst>
  </p:cSld>
</p:sld>
</file>

<file path=ppt/slides/slide6.xml><?xml version="1.0" encoding="utf-8"?>
<p:sld xmlns:p="http://schemas.openxmlformats.org/presentationml/2006/main">
  <p:cSld>
    <p:bg>
      <p:bgPr>
        <a:solidFill xmlns:a="http://schemas.openxmlformats.org/drawingml/2006/main">
          <a:srgbClr val="101827"/>
        </a:solidFill>
      </p:bgPr>
    </p:bg>
    <p:spTree>
      <p:nvGrpSpPr>
        <p:cNvPr id="1" name=""/>
        <p:cNvGrpSpPr/>
        <p:nvPr/>
      </p:nvGrpSpPr>
      <p:grpSpPr>
        <a:xfrm xmlns:a="http://schemas.openxmlformats.org/drawingml/2006/main"/>
      </p:grpSpPr>
      <p:cxnSp>
        <p:nvCxnSpPr>
          <p:cNvPr id="14" name=""/>
          <p:cNvCxnSpPr>
            <a:stCxn xmlns:a="http://schemas.openxmlformats.org/drawingml/2006/main" id="6" idx="1"/>
            <a:endCxn xmlns:a="http://schemas.openxmlformats.org/drawingml/2006/main" id="7" idx="3"/>
          </p:cNvCxnSpPr>
          <p:nvPr/>
        </p:nvCxnSpPr>
        <p:spPr>
          <a:xfrm xmlns:a="http://schemas.openxmlformats.org/drawingml/2006/main" flipH="1">
            <a:off x="6315075" y="3810000"/>
            <a:ext cx="847725" cy="0"/>
          </a:xfrm>
          <a:prstGeom xmlns:a="http://schemas.openxmlformats.org/drawingml/2006/main" prst="straightConnector1">
            <a:avLst/>
          </a:prstGeom>
          <a:ln xmlns:a="http://schemas.openxmlformats.org/drawingml/2006/main" w="19050">
            <a:solidFill>
              <a:srgbClr val="64E1DC"/>
            </a:solidFill>
            <a:tailEnd type="arrow" w="med" len="med"/>
          </a:ln>
        </p:spPr>
      </p:cxnSp>
      <p:cxnSp>
        <p:nvCxnSpPr>
          <p:cNvPr id="15" name=""/>
          <p:cNvCxnSpPr>
            <a:stCxn xmlns:a="http://schemas.openxmlformats.org/drawingml/2006/main" id="5" idx="2"/>
            <a:endCxn xmlns:a="http://schemas.openxmlformats.org/drawingml/2006/main" id="6" idx="0"/>
          </p:cNvCxnSpPr>
          <p:nvPr/>
        </p:nvCxnSpPr>
        <p:spPr>
          <a:xfrm xmlns:a="http://schemas.openxmlformats.org/drawingml/2006/main">
            <a:off x="8377238" y="2524125"/>
            <a:ext cx="214313" cy="904875"/>
          </a:xfrm>
          <a:prstGeom xmlns:a="http://schemas.openxmlformats.org/drawingml/2006/main" prst="straightConnector1">
            <a:avLst/>
          </a:prstGeom>
          <a:ln xmlns:a="http://schemas.openxmlformats.org/drawingml/2006/main" w="19050">
            <a:solidFill>
              <a:srgbClr val="64E1DC"/>
            </a:solidFill>
            <a:tailEnd type="arrow" w="med" len="med"/>
          </a:ln>
        </p:spPr>
      </p:cxnSp>
      <p:cxnSp>
        <p:nvCxnSpPr>
          <p:cNvPr id="16" name=""/>
          <p:cNvCxnSpPr>
            <a:stCxn xmlns:a="http://schemas.openxmlformats.org/drawingml/2006/main" id="4" idx="3"/>
            <a:endCxn xmlns:a="http://schemas.openxmlformats.org/drawingml/2006/main" id="5" idx="1"/>
          </p:cNvCxnSpPr>
          <p:nvPr/>
        </p:nvCxnSpPr>
        <p:spPr>
          <a:xfrm xmlns:a="http://schemas.openxmlformats.org/drawingml/2006/main">
            <a:off x="6315075" y="2143125"/>
            <a:ext cx="847725" cy="0"/>
          </a:xfrm>
          <a:prstGeom xmlns:a="http://schemas.openxmlformats.org/drawingml/2006/main" prst="straightConnector1">
            <a:avLst/>
          </a:prstGeom>
          <a:ln xmlns:a="http://schemas.openxmlformats.org/drawingml/2006/main" w="19050">
            <a:solidFill>
              <a:srgbClr val="64E1DC"/>
            </a:solidFill>
            <a:tailEnd type="arrow" w="med" len="med"/>
          </a:ln>
        </p:spPr>
      </p:cxnSp>
      <p:cxnSp>
        <p:nvCxnSpPr>
          <p:cNvPr id="17" name=""/>
          <p:cNvCxnSpPr>
            <a:stCxn xmlns:a="http://schemas.openxmlformats.org/drawingml/2006/main" id="3" idx="3"/>
            <a:endCxn xmlns:a="http://schemas.openxmlformats.org/drawingml/2006/main" id="4" idx="1"/>
          </p:cNvCxnSpPr>
          <p:nvPr/>
        </p:nvCxnSpPr>
        <p:spPr>
          <a:xfrm xmlns:a="http://schemas.openxmlformats.org/drawingml/2006/main">
            <a:off x="3038475" y="2143125"/>
            <a:ext cx="847725" cy="0"/>
          </a:xfrm>
          <a:prstGeom xmlns:a="http://schemas.openxmlformats.org/drawingml/2006/main" prst="straightConnector1">
            <a:avLst/>
          </a:prstGeom>
          <a:ln xmlns:a="http://schemas.openxmlformats.org/drawingml/2006/main" w="19050">
            <a:solidFill>
              <a:srgbClr val="64E1DC"/>
            </a:solidFill>
            <a:tailEnd type="arrow" w="med" len="med"/>
          </a:ln>
        </p:spPr>
      </p:cxnSp>
      <p:sp>
        <p:nvSpPr>
          <p:cNvPr id="18" name="">
            <a:extLst xmlns:a="http://schemas.openxmlformats.org/drawingml/2006/main">
              <a:ext uri="{FF2B5EF4-FFF2-40B4-BE49-F238E27FC236}">
                <a16:creationId xmlns:a16="http://schemas.microsoft.com/office/drawing/2014/main" id="{8BB93C45-57F6-4D8C-B1FA-90DE57A10477}"/>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2F5FA"/>
                </a:solidFill>
                <a:latin typeface="DejaVu Sans"/>
                <a:ea typeface="DejaVu Sans"/>
                <a:cs typeface="DejaVu Sans"/>
              </a:defRPr>
            </a:pPr>
            <a:r>
              <a:rPr sz="3000" b="1">
                <a:solidFill>
                  <a:srgbClr val="F2F5FA"/>
                </a:solidFill>
                <a:latin typeface="DejaVu Sans"/>
                <a:ea typeface="DejaVu Sans"/>
                <a:cs typeface="DejaVu Sans"/>
              </a:rPr>
              <a:t>Specialized agents can cross-check findings</a:t>
            </a:r>
          </a:p>
        </p:txBody>
      </p:sp>
      <p:sp>
        <p:nvSpPr>
          <p:cNvPr id="2" name="">
            <a:extLst xmlns:a="http://schemas.openxmlformats.org/drawingml/2006/main">
              <a:ext uri="{FF2B5EF4-FFF2-40B4-BE49-F238E27FC236}">
                <a16:creationId xmlns:a16="http://schemas.microsoft.com/office/drawing/2014/main" id="{11BE6448-8E84-4AC6-A701-4CA249650826}"/>
              </a:ext>
            </a:extLst>
          </p:cNvPr>
          <p:cNvSpPr>
            <a:spLocks xmlns:a="http://schemas.openxmlformats.org/drawingml/2006/main" noGrp="1"/>
          </p:cNvSpPr>
          <p:nvPr/>
        </p:nvSpPr>
        <p:spPr>
          <a:xfrm xmlns:a="http://schemas.openxmlformats.org/drawingml/2006/main">
            <a:off x="11144250" y="62865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5C2D3"/>
                </a:solidFill>
                <a:latin typeface="DejaVu Sans"/>
                <a:ea typeface="DejaVu Sans"/>
                <a:cs typeface="DejaVu Sans"/>
              </a:defRPr>
            </a:pPr>
            <a:r>
              <a:rPr sz="1275" b="0">
                <a:solidFill>
                  <a:srgbClr val="B5C2D3"/>
                </a:solidFill>
                <a:latin typeface="DejaVu Sans"/>
                <a:ea typeface="DejaVu Sans"/>
                <a:cs typeface="DejaVu Sans"/>
              </a:rPr>
              <a:t>06</a:t>
            </a:r>
          </a:p>
        </p:txBody>
      </p:sp>
      <p:sp>
        <p:nvSpPr>
          <p:cNvPr id="3" name="">
            <a:extLst xmlns:a="http://schemas.openxmlformats.org/drawingml/2006/main">
              <a:ext uri="{FF2B5EF4-FFF2-40B4-BE49-F238E27FC236}">
                <a16:creationId xmlns:a16="http://schemas.microsoft.com/office/drawing/2014/main" id="{DACA1DA6-B956-460F-B988-6E2A55F8C4DD}"/>
              </a:ext>
            </a:extLst>
          </p:cNvPr>
          <p:cNvSpPr>
            <a:spLocks xmlns:a="http://schemas.openxmlformats.org/drawingml/2006/main" noGrp="1"/>
          </p:cNvSpPr>
          <p:nvPr/>
        </p:nvSpPr>
        <p:spPr>
          <a:xfrm xmlns:a="http://schemas.openxmlformats.org/drawingml/2006/main">
            <a:off x="609600" y="1762125"/>
            <a:ext cx="2428875" cy="762000"/>
          </a:xfrm>
          <a:prstGeom xmlns:a="http://schemas.openxmlformats.org/drawingml/2006/main" prst="rect">
            <a:avLst/>
          </a:prstGeom>
          <a:solidFill xmlns:a="http://schemas.openxmlformats.org/drawingml/2006/main">
            <a:srgbClr val="17263B"/>
          </a:solidFill>
          <a:ln xmlns:a="http://schemas.openxmlformats.org/drawingml/2006/main" w="19050">
            <a:solidFill>
              <a:srgbClr val="64E1DC"/>
            </a:solidFill>
          </a:ln>
        </p:spPr>
        <p:txBody>
          <a:bodyPr xmlns:a="http://schemas.openxmlformats.org/drawingml/2006/main" anchor="ctr"/>
          <a:lstStyle xmlns:a="http://schemas.openxmlformats.org/drawingml/2006/main"/>
          <a:p xmlns:a="http://schemas.openxmlformats.org/drawingml/2006/main">
            <a:pPr algn="ctr">
              <a:defRPr sz="1875" b="1">
                <a:solidFill>
                  <a:srgbClr val="F2F5FA"/>
                </a:solidFill>
                <a:latin typeface="DejaVu Sans"/>
                <a:ea typeface="DejaVu Sans"/>
                <a:cs typeface="DejaVu Sans"/>
              </a:defRPr>
            </a:pPr>
            <a:r>
              <a:rPr sz="1875" b="1">
                <a:solidFill>
                  <a:srgbClr val="F2F5FA"/>
                </a:solidFill>
                <a:latin typeface="DejaVu Sans"/>
                <a:ea typeface="DejaVu Sans"/>
                <a:cs typeface="DejaVu Sans"/>
              </a:rPr>
              <a:t>Discover</a:t>
            </a:r>
          </a:p>
        </p:txBody>
      </p:sp>
      <p:sp>
        <p:nvSpPr>
          <p:cNvPr id="4" name="">
            <a:extLst xmlns:a="http://schemas.openxmlformats.org/drawingml/2006/main">
              <a:ext uri="{FF2B5EF4-FFF2-40B4-BE49-F238E27FC236}">
                <a16:creationId xmlns:a16="http://schemas.microsoft.com/office/drawing/2014/main" id="{B2013551-E92B-4632-80DB-BF32482A2C4D}"/>
              </a:ext>
            </a:extLst>
          </p:cNvPr>
          <p:cNvSpPr>
            <a:spLocks xmlns:a="http://schemas.openxmlformats.org/drawingml/2006/main" noGrp="1"/>
          </p:cNvSpPr>
          <p:nvPr/>
        </p:nvSpPr>
        <p:spPr>
          <a:xfrm xmlns:a="http://schemas.openxmlformats.org/drawingml/2006/main">
            <a:off x="3886200" y="1762125"/>
            <a:ext cx="2428875" cy="762000"/>
          </a:xfrm>
          <a:prstGeom xmlns:a="http://schemas.openxmlformats.org/drawingml/2006/main" prst="rect">
            <a:avLst/>
          </a:prstGeom>
          <a:solidFill xmlns:a="http://schemas.openxmlformats.org/drawingml/2006/main">
            <a:srgbClr val="17263B"/>
          </a:solidFill>
          <a:ln xmlns:a="http://schemas.openxmlformats.org/drawingml/2006/main" w="19050">
            <a:solidFill>
              <a:srgbClr val="64E1DC"/>
            </a:solidFill>
          </a:ln>
        </p:spPr>
        <p:txBody>
          <a:bodyPr xmlns:a="http://schemas.openxmlformats.org/drawingml/2006/main" anchor="ctr"/>
          <a:lstStyle xmlns:a="http://schemas.openxmlformats.org/drawingml/2006/main"/>
          <a:p xmlns:a="http://schemas.openxmlformats.org/drawingml/2006/main">
            <a:pPr algn="ctr">
              <a:defRPr sz="1875" b="1">
                <a:solidFill>
                  <a:srgbClr val="F2F5FA"/>
                </a:solidFill>
                <a:latin typeface="DejaVu Sans"/>
                <a:ea typeface="DejaVu Sans"/>
                <a:cs typeface="DejaVu Sans"/>
              </a:defRPr>
            </a:pPr>
            <a:r>
              <a:rPr sz="1875" b="1">
                <a:solidFill>
                  <a:srgbClr val="F2F5FA"/>
                </a:solidFill>
                <a:latin typeface="DejaVu Sans"/>
                <a:ea typeface="DejaVu Sans"/>
                <a:cs typeface="DejaVu Sans"/>
              </a:rPr>
              <a:t>Reproduce</a:t>
            </a:r>
          </a:p>
        </p:txBody>
      </p:sp>
      <p:sp>
        <p:nvSpPr>
          <p:cNvPr id="5" name="">
            <a:extLst xmlns:a="http://schemas.openxmlformats.org/drawingml/2006/main">
              <a:ext uri="{FF2B5EF4-FFF2-40B4-BE49-F238E27FC236}">
                <a16:creationId xmlns:a16="http://schemas.microsoft.com/office/drawing/2014/main" id="{32A19C1F-F245-441C-B6A8-FF5DD863A494}"/>
              </a:ext>
            </a:extLst>
          </p:cNvPr>
          <p:cNvSpPr>
            <a:spLocks xmlns:a="http://schemas.openxmlformats.org/drawingml/2006/main" noGrp="1"/>
          </p:cNvSpPr>
          <p:nvPr/>
        </p:nvSpPr>
        <p:spPr>
          <a:xfrm xmlns:a="http://schemas.openxmlformats.org/drawingml/2006/main">
            <a:off x="7162800" y="1762125"/>
            <a:ext cx="2428875" cy="762000"/>
          </a:xfrm>
          <a:prstGeom xmlns:a="http://schemas.openxmlformats.org/drawingml/2006/main" prst="rect">
            <a:avLst/>
          </a:prstGeom>
          <a:solidFill xmlns:a="http://schemas.openxmlformats.org/drawingml/2006/main">
            <a:srgbClr val="17263B"/>
          </a:solidFill>
          <a:ln xmlns:a="http://schemas.openxmlformats.org/drawingml/2006/main" w="19050">
            <a:solidFill>
              <a:srgbClr val="64E1DC"/>
            </a:solidFill>
          </a:ln>
        </p:spPr>
        <p:txBody>
          <a:bodyPr xmlns:a="http://schemas.openxmlformats.org/drawingml/2006/main" anchor="ctr"/>
          <a:lstStyle xmlns:a="http://schemas.openxmlformats.org/drawingml/2006/main"/>
          <a:p xmlns:a="http://schemas.openxmlformats.org/drawingml/2006/main">
            <a:pPr algn="ctr">
              <a:defRPr sz="1875" b="1">
                <a:solidFill>
                  <a:srgbClr val="F2F5FA"/>
                </a:solidFill>
                <a:latin typeface="DejaVu Sans"/>
                <a:ea typeface="DejaVu Sans"/>
                <a:cs typeface="DejaVu Sans"/>
              </a:defRPr>
            </a:pPr>
            <a:r>
              <a:rPr sz="1875" b="1">
                <a:solidFill>
                  <a:srgbClr val="F2F5FA"/>
                </a:solidFill>
                <a:latin typeface="DejaVu Sans"/>
                <a:ea typeface="DejaVu Sans"/>
                <a:cs typeface="DejaVu Sans"/>
              </a:rPr>
              <a:t>Challenge</a:t>
            </a:r>
          </a:p>
        </p:txBody>
      </p:sp>
      <p:sp>
        <p:nvSpPr>
          <p:cNvPr id="6" name="">
            <a:extLst xmlns:a="http://schemas.openxmlformats.org/drawingml/2006/main">
              <a:ext uri="{FF2B5EF4-FFF2-40B4-BE49-F238E27FC236}">
                <a16:creationId xmlns:a16="http://schemas.microsoft.com/office/drawing/2014/main" id="{E64DE932-D000-4873-9BDE-64BDD4F870A4}"/>
              </a:ext>
            </a:extLst>
          </p:cNvPr>
          <p:cNvSpPr>
            <a:spLocks xmlns:a="http://schemas.openxmlformats.org/drawingml/2006/main" noGrp="1"/>
          </p:cNvSpPr>
          <p:nvPr/>
        </p:nvSpPr>
        <p:spPr>
          <a:xfrm xmlns:a="http://schemas.openxmlformats.org/drawingml/2006/main">
            <a:off x="7162800" y="3429000"/>
            <a:ext cx="2857500" cy="762000"/>
          </a:xfrm>
          <a:prstGeom xmlns:a="http://schemas.openxmlformats.org/drawingml/2006/main" prst="rect">
            <a:avLst/>
          </a:prstGeom>
          <a:solidFill xmlns:a="http://schemas.openxmlformats.org/drawingml/2006/main">
            <a:srgbClr val="17263B"/>
          </a:solidFill>
          <a:ln xmlns:a="http://schemas.openxmlformats.org/drawingml/2006/main" w="19050">
            <a:solidFill>
              <a:srgbClr val="64E1DC"/>
            </a:solidFill>
          </a:ln>
        </p:spPr>
        <p:txBody>
          <a:bodyPr xmlns:a="http://schemas.openxmlformats.org/drawingml/2006/main" anchor="ctr"/>
          <a:lstStyle xmlns:a="http://schemas.openxmlformats.org/drawingml/2006/main"/>
          <a:p xmlns:a="http://schemas.openxmlformats.org/drawingml/2006/main">
            <a:pPr algn="ctr">
              <a:defRPr sz="1875" b="1">
                <a:solidFill>
                  <a:srgbClr val="F2F5FA"/>
                </a:solidFill>
                <a:latin typeface="DejaVu Sans"/>
                <a:ea typeface="DejaVu Sans"/>
                <a:cs typeface="DejaVu Sans"/>
              </a:defRPr>
            </a:pPr>
            <a:r>
              <a:rPr sz="1875" b="1">
                <a:solidFill>
                  <a:srgbClr val="F2F5FA"/>
                </a:solidFill>
                <a:latin typeface="DejaVu Sans"/>
                <a:ea typeface="DejaVu Sans"/>
                <a:cs typeface="DejaVu Sans"/>
              </a:rPr>
              <a:t>Engineer review</a:t>
            </a:r>
          </a:p>
        </p:txBody>
      </p:sp>
      <p:sp>
        <p:nvSpPr>
          <p:cNvPr id="7" name="">
            <a:extLst xmlns:a="http://schemas.openxmlformats.org/drawingml/2006/main">
              <a:ext uri="{FF2B5EF4-FFF2-40B4-BE49-F238E27FC236}">
                <a16:creationId xmlns:a16="http://schemas.microsoft.com/office/drawing/2014/main" id="{61BA8979-D106-41B1-87D5-4781B0D8B23E}"/>
              </a:ext>
            </a:extLst>
          </p:cNvPr>
          <p:cNvSpPr>
            <a:spLocks xmlns:a="http://schemas.openxmlformats.org/drawingml/2006/main" noGrp="1"/>
          </p:cNvSpPr>
          <p:nvPr/>
        </p:nvSpPr>
        <p:spPr>
          <a:xfrm xmlns:a="http://schemas.openxmlformats.org/drawingml/2006/main">
            <a:off x="3886200" y="3429000"/>
            <a:ext cx="2428875" cy="762000"/>
          </a:xfrm>
          <a:prstGeom xmlns:a="http://schemas.openxmlformats.org/drawingml/2006/main" prst="rect">
            <a:avLst/>
          </a:prstGeom>
          <a:solidFill xmlns:a="http://schemas.openxmlformats.org/drawingml/2006/main">
            <a:srgbClr val="17263B"/>
          </a:solidFill>
          <a:ln xmlns:a="http://schemas.openxmlformats.org/drawingml/2006/main" w="19050">
            <a:solidFill>
              <a:srgbClr val="64E1DC"/>
            </a:solidFill>
          </a:ln>
        </p:spPr>
        <p:txBody>
          <a:bodyPr xmlns:a="http://schemas.openxmlformats.org/drawingml/2006/main" anchor="ctr"/>
          <a:lstStyle xmlns:a="http://schemas.openxmlformats.org/drawingml/2006/main"/>
          <a:p xmlns:a="http://schemas.openxmlformats.org/drawingml/2006/main">
            <a:pPr algn="ctr">
              <a:defRPr sz="1875" b="1">
                <a:solidFill>
                  <a:srgbClr val="F2F5FA"/>
                </a:solidFill>
                <a:latin typeface="DejaVu Sans"/>
                <a:ea typeface="DejaVu Sans"/>
                <a:cs typeface="DejaVu Sans"/>
              </a:defRPr>
            </a:pPr>
            <a:r>
              <a:rPr sz="1875" b="1">
                <a:solidFill>
                  <a:srgbClr val="F2F5FA"/>
                </a:solidFill>
                <a:latin typeface="DejaVu Sans"/>
                <a:ea typeface="DejaVu Sans"/>
                <a:cs typeface="DejaVu Sans"/>
              </a:rPr>
              <a:t>Fix &amp; retest</a:t>
            </a:r>
          </a:p>
        </p:txBody>
      </p:sp>
      <p:sp>
        <p:nvSpPr>
          <p:cNvPr id="12" name="">
            <a:extLst xmlns:a="http://schemas.openxmlformats.org/drawingml/2006/main">
              <a:ext uri="{FF2B5EF4-FFF2-40B4-BE49-F238E27FC236}">
                <a16:creationId xmlns:a16="http://schemas.microsoft.com/office/drawing/2014/main" id="{6BC2EAAB-7F4F-4AB3-84E1-33FCFD85AF37}"/>
              </a:ext>
            </a:extLst>
          </p:cNvPr>
          <p:cNvSpPr>
            <a:spLocks xmlns:a="http://schemas.openxmlformats.org/drawingml/2006/main" noGrp="1"/>
          </p:cNvSpPr>
          <p:nvPr/>
        </p:nvSpPr>
        <p:spPr>
          <a:xfrm xmlns:a="http://schemas.openxmlformats.org/drawingml/2006/main">
            <a:off x="609600" y="49053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64E1DC"/>
                </a:solidFill>
                <a:latin typeface="DejaVu Sans"/>
                <a:ea typeface="DejaVu Sans"/>
                <a:cs typeface="DejaVu Sans"/>
              </a:defRPr>
            </a:pPr>
            <a:r>
              <a:rPr sz="2400" b="1">
                <a:solidFill>
                  <a:srgbClr val="64E1DC"/>
                </a:solidFill>
                <a:latin typeface="DejaVu Sans"/>
                <a:ea typeface="DejaVu Sans"/>
                <a:cs typeface="DejaVu Sans"/>
              </a:rPr>
              <a:t>Useful output: a finding with evidence</a:t>
            </a:r>
          </a:p>
        </p:txBody>
      </p:sp>
      <p:sp>
        <p:nvSpPr>
          <p:cNvPr id="13" name="">
            <a:extLst xmlns:a="http://schemas.openxmlformats.org/drawingml/2006/main">
              <a:ext uri="{FF2B5EF4-FFF2-40B4-BE49-F238E27FC236}">
                <a16:creationId xmlns:a16="http://schemas.microsoft.com/office/drawing/2014/main" id="{1D5BEE5F-D25F-463F-81AD-A41A06186EF3}"/>
              </a:ext>
            </a:extLst>
          </p:cNvPr>
          <p:cNvSpPr>
            <a:spLocks xmlns:a="http://schemas.openxmlformats.org/drawingml/2006/main" noGrp="1"/>
          </p:cNvSpPr>
          <p:nvPr/>
        </p:nvSpPr>
        <p:spPr>
          <a:xfrm xmlns:a="http://schemas.openxmlformats.org/drawingml/2006/main">
            <a:off x="609600" y="55721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2F5FA"/>
                </a:solidFill>
                <a:latin typeface="DejaVu Sans"/>
                <a:ea typeface="DejaVu Sans"/>
                <a:cs typeface="DejaVu Sans"/>
              </a:defRPr>
            </a:pPr>
            <a:r>
              <a:rPr sz="2025" b="0">
                <a:solidFill>
                  <a:srgbClr val="F2F5FA"/>
                </a:solidFill>
                <a:latin typeface="DejaVu Sans"/>
                <a:ea typeface="DejaVu Sans"/>
                <a:cs typeface="DejaVu Sans"/>
              </a:rPr>
              <a:t>Affected code, reproduction steps, impact and a verified fix.</a:t>
            </a:r>
          </a:p>
        </p:txBody>
      </p:sp>
    </p:spTree>
    <p:extLst>
      <p:ext uri="{BB962C8B-B14F-4D97-AF65-F5344CB8AC3E}">
        <p14:creationId xmlns:p14="http://schemas.microsoft.com/office/powerpoint/2010/main" val="2094246662"/>
      </p:ext>
    </p:extLst>
  </p:cSld>
</p:sld>
</file>

<file path=ppt/slides/slide7.xml><?xml version="1.0" encoding="utf-8"?>
<p:sld xmlns:p="http://schemas.openxmlformats.org/presentationml/2006/main">
  <p:cSld>
    <p:bg>
      <p:bgPr>
        <a:solidFill xmlns:a="http://schemas.openxmlformats.org/drawingml/2006/main">
          <a:srgbClr val="10182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E4D1621-263C-46E1-87DF-DFFA11E7E1A3}"/>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2F5FA"/>
                </a:solidFill>
                <a:latin typeface="DejaVu Sans"/>
                <a:ea typeface="DejaVu Sans"/>
                <a:cs typeface="DejaVu Sans"/>
              </a:defRPr>
            </a:pPr>
            <a:r>
              <a:rPr sz="3000" b="1">
                <a:solidFill>
                  <a:srgbClr val="F2F5FA"/>
                </a:solidFill>
                <a:latin typeface="DejaVu Sans"/>
                <a:ea typeface="DejaVu Sans"/>
                <a:cs typeface="DejaVu Sans"/>
              </a:rPr>
              <a:t>AI testing continues after deployment</a:t>
            </a:r>
          </a:p>
        </p:txBody>
      </p:sp>
      <p:sp>
        <p:nvSpPr>
          <p:cNvPr id="2" name="">
            <a:extLst xmlns:a="http://schemas.openxmlformats.org/drawingml/2006/main">
              <a:ext uri="{FF2B5EF4-FFF2-40B4-BE49-F238E27FC236}">
                <a16:creationId xmlns:a16="http://schemas.microsoft.com/office/drawing/2014/main" id="{93A36655-DBC5-4B42-B451-68E47EC89534}"/>
              </a:ext>
            </a:extLst>
          </p:cNvPr>
          <p:cNvSpPr>
            <a:spLocks xmlns:a="http://schemas.openxmlformats.org/drawingml/2006/main" noGrp="1"/>
          </p:cNvSpPr>
          <p:nvPr/>
        </p:nvSpPr>
        <p:spPr>
          <a:xfrm xmlns:a="http://schemas.openxmlformats.org/drawingml/2006/main">
            <a:off x="11144250" y="62865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5C2D3"/>
                </a:solidFill>
                <a:latin typeface="DejaVu Sans"/>
                <a:ea typeface="DejaVu Sans"/>
                <a:cs typeface="DejaVu Sans"/>
              </a:defRPr>
            </a:pPr>
            <a:r>
              <a:rPr sz="1275" b="0">
                <a:solidFill>
                  <a:srgbClr val="B5C2D3"/>
                </a:solidFill>
                <a:latin typeface="DejaVu Sans"/>
                <a:ea typeface="DejaVu Sans"/>
                <a:cs typeface="DejaVu Sans"/>
              </a:rPr>
              <a:t>07</a:t>
            </a:r>
          </a:p>
        </p:txBody>
      </p:sp>
      <p:sp>
        <p:nvSpPr>
          <p:cNvPr id="3" name="">
            <a:extLst xmlns:a="http://schemas.openxmlformats.org/drawingml/2006/main">
              <a:ext uri="{FF2B5EF4-FFF2-40B4-BE49-F238E27FC236}">
                <a16:creationId xmlns:a16="http://schemas.microsoft.com/office/drawing/2014/main" id="{5589C4A4-B229-4F85-995A-21B0CC7AF314}"/>
              </a:ext>
            </a:extLst>
          </p:cNvPr>
          <p:cNvSpPr>
            <a:spLocks xmlns:a="http://schemas.openxmlformats.org/drawingml/2006/main" noGrp="1"/>
          </p:cNvSpPr>
          <p:nvPr/>
        </p:nvSpPr>
        <p:spPr>
          <a:xfrm xmlns:a="http://schemas.openxmlformats.org/drawingml/2006/main">
            <a:off x="609600" y="1762125"/>
            <a:ext cx="561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64E1DC"/>
                </a:solidFill>
                <a:latin typeface="DejaVu Sans"/>
                <a:ea typeface="DejaVu Sans"/>
                <a:cs typeface="DejaVu Sans"/>
              </a:defRPr>
            </a:pPr>
            <a:r>
              <a:rPr sz="2550" b="1">
                <a:solidFill>
                  <a:srgbClr val="64E1DC"/>
                </a:solidFill>
                <a:latin typeface="DejaVu Sans"/>
                <a:ea typeface="DejaVu Sans"/>
                <a:cs typeface="DejaVu Sans"/>
              </a:rPr>
              <a:t>Test the full system</a:t>
            </a:r>
          </a:p>
        </p:txBody>
      </p:sp>
      <p:sp>
        <p:nvSpPr>
          <p:cNvPr id="4" name="">
            <a:extLst xmlns:a="http://schemas.openxmlformats.org/drawingml/2006/main">
              <a:ext uri="{FF2B5EF4-FFF2-40B4-BE49-F238E27FC236}">
                <a16:creationId xmlns:a16="http://schemas.microsoft.com/office/drawing/2014/main" id="{713BF846-B2CC-4BA3-B7EA-E35E791776DF}"/>
              </a:ext>
            </a:extLst>
          </p:cNvPr>
          <p:cNvSpPr>
            <a:spLocks xmlns:a="http://schemas.openxmlformats.org/drawingml/2006/main" noGrp="1"/>
          </p:cNvSpPr>
          <p:nvPr/>
        </p:nvSpPr>
        <p:spPr>
          <a:xfrm xmlns:a="http://schemas.openxmlformats.org/drawingml/2006/main">
            <a:off x="609600" y="2619375"/>
            <a:ext cx="5905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2F5FA"/>
                </a:solidFill>
                <a:latin typeface="DejaVu Sans"/>
                <a:ea typeface="DejaVu Sans"/>
                <a:cs typeface="DejaVu Sans"/>
              </a:defRPr>
            </a:pPr>
            <a:r>
              <a:rPr sz="2100" b="0">
                <a:solidFill>
                  <a:srgbClr val="F2F5FA"/>
                </a:solidFill>
                <a:latin typeface="DejaVu Sans"/>
                <a:ea typeface="DejaVu Sans"/>
                <a:cs typeface="DejaVu Sans"/>
              </a:rPr>
              <a:t>Prompt injection and data disclosure</a:t>
            </a:r>
          </a:p>
          <a:p xmlns:a="http://schemas.openxmlformats.org/drawingml/2006/main">
            <a:pPr>
              <a:defRPr sz="2100" b="0">
                <a:solidFill>
                  <a:srgbClr val="F2F5FA"/>
                </a:solidFill>
                <a:latin typeface="DejaVu Sans"/>
                <a:ea typeface="DejaVu Sans"/>
                <a:cs typeface="DejaVu Sans"/>
              </a:defRPr>
            </a:pPr>
            <a:r>
              <a:rPr sz="2100" b="0">
                <a:solidFill>
                  <a:srgbClr val="F2F5FA"/>
                </a:solidFill>
                <a:latin typeface="DejaVu Sans"/>
                <a:ea typeface="DejaVu Sans"/>
                <a:cs typeface="DejaVu Sans"/>
              </a:rPr>
              <a:t>Tool misuse and permission boundaries</a:t>
            </a:r>
          </a:p>
          <a:p xmlns:a="http://schemas.openxmlformats.org/drawingml/2006/main">
            <a:pPr>
              <a:defRPr sz="2100" b="0">
                <a:solidFill>
                  <a:srgbClr val="F2F5FA"/>
                </a:solidFill>
                <a:latin typeface="DejaVu Sans"/>
                <a:ea typeface="DejaVu Sans"/>
                <a:cs typeface="DejaVu Sans"/>
              </a:defRPr>
            </a:pPr>
            <a:r>
              <a:rPr sz="2100" b="0">
                <a:solidFill>
                  <a:srgbClr val="F2F5FA"/>
                </a:solidFill>
                <a:latin typeface="DejaVu Sans"/>
                <a:ea typeface="DejaVu Sans"/>
                <a:cs typeface="DejaVu Sans"/>
              </a:rPr>
              <a:t>Changes to models, prompts or retrieval</a:t>
            </a:r>
          </a:p>
          <a:p xmlns:a="http://schemas.openxmlformats.org/drawingml/2006/main">
            <a:pPr>
              <a:defRPr sz="2100" b="0">
                <a:solidFill>
                  <a:srgbClr val="F2F5FA"/>
                </a:solidFill>
                <a:latin typeface="DejaVu Sans"/>
                <a:ea typeface="DejaVu Sans"/>
                <a:cs typeface="DejaVu Sans"/>
              </a:defRPr>
            </a:pPr>
            <a:r>
              <a:rPr sz="2100" b="0">
                <a:solidFill>
                  <a:srgbClr val="F2F5FA"/>
                </a:solidFill>
                <a:latin typeface="DejaVu Sans"/>
                <a:ea typeface="DejaVu Sans"/>
                <a:cs typeface="DejaVu Sans"/>
              </a:rPr>
              <a:t>Regression tests after remediation</a:t>
            </a:r>
          </a:p>
        </p:txBody>
      </p:sp>
      <p:sp>
        <p:nvSpPr>
          <p:cNvPr id="5" name="">
            <a:extLst xmlns:a="http://schemas.openxmlformats.org/drawingml/2006/main">
              <a:ext uri="{FF2B5EF4-FFF2-40B4-BE49-F238E27FC236}">
                <a16:creationId xmlns:a16="http://schemas.microsoft.com/office/drawing/2014/main" id="{CD2BAF3D-0A60-4F41-8967-A1294ABAF0E7}"/>
              </a:ext>
            </a:extLst>
          </p:cNvPr>
          <p:cNvSpPr>
            <a:spLocks xmlns:a="http://schemas.openxmlformats.org/drawingml/2006/main" noGrp="1"/>
          </p:cNvSpPr>
          <p:nvPr/>
        </p:nvSpPr>
        <p:spPr>
          <a:xfrm xmlns:a="http://schemas.openxmlformats.org/drawingml/2006/main">
            <a:off x="609600" y="5286375"/>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2F5FA"/>
                </a:solidFill>
                <a:latin typeface="DejaVu Sans"/>
                <a:ea typeface="DejaVu Sans"/>
                <a:cs typeface="DejaVu Sans"/>
              </a:defRPr>
            </a:pPr>
            <a:r>
              <a:rPr sz="2325" b="1">
                <a:solidFill>
                  <a:srgbClr val="F2F5FA"/>
                </a:solidFill>
                <a:latin typeface="DejaVu Sans"/>
                <a:ea typeface="DejaVu Sans"/>
                <a:cs typeface="DejaVu Sans"/>
              </a:rPr>
              <a:t>Track whether controls hold</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82d51a6b4a9419a"/>
          <a:srcRect xmlns:a="http://schemas.openxmlformats.org/drawingml/2006/main" l="0" t="33000" r="0" b="33000"/>
          <a:stretch xmlns:a="http://schemas.openxmlformats.org/drawingml/2006/main"/>
        </p:blipFill>
        <p:spPr>
          <a:xfrm xmlns:a="http://schemas.openxmlformats.org/drawingml/2006/main">
            <a:off x="7239000" y="1714500"/>
            <a:ext cx="4000500" cy="3857625"/>
          </a:xfrm>
          <a:prstGeom xmlns:a="http://schemas.openxmlformats.org/drawingml/2006/main" prst="rect">
            <a:avLst/>
          </a:prstGeom>
        </p:spPr>
      </p:pic>
    </p:spTree>
    <p:extLst>
      <p:ext uri="{BB962C8B-B14F-4D97-AF65-F5344CB8AC3E}">
        <p14:creationId xmlns:p14="http://schemas.microsoft.com/office/powerpoint/2010/main" val="1617709774"/>
      </p:ext>
    </p:extLst>
  </p:cSld>
</p:sld>
</file>

<file path=ppt/slides/slide8.xml><?xml version="1.0" encoding="utf-8"?>
<p:sld xmlns:p="http://schemas.openxmlformats.org/presentationml/2006/main">
  <p:cSld>
    <p:bg>
      <p:bgPr>
        <a:solidFill xmlns:a="http://schemas.openxmlformats.org/drawingml/2006/main">
          <a:srgbClr val="10182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E70E112-E218-45A4-BA1B-E7FDEF75983A}"/>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2F5FA"/>
                </a:solidFill>
                <a:latin typeface="DejaVu Sans"/>
                <a:ea typeface="DejaVu Sans"/>
                <a:cs typeface="DejaVu Sans"/>
              </a:defRPr>
            </a:pPr>
            <a:r>
              <a:rPr sz="3000" b="1">
                <a:solidFill>
                  <a:srgbClr val="F2F5FA"/>
                </a:solidFill>
                <a:latin typeface="DejaVu Sans"/>
                <a:ea typeface="DejaVu Sans"/>
                <a:cs typeface="DejaVu Sans"/>
              </a:rPr>
              <a:t>Vulnerability prioritization needs context</a:t>
            </a:r>
          </a:p>
        </p:txBody>
      </p:sp>
      <p:sp>
        <p:nvSpPr>
          <p:cNvPr id="2" name="">
            <a:extLst xmlns:a="http://schemas.openxmlformats.org/drawingml/2006/main">
              <a:ext uri="{FF2B5EF4-FFF2-40B4-BE49-F238E27FC236}">
                <a16:creationId xmlns:a16="http://schemas.microsoft.com/office/drawing/2014/main" id="{CC366B35-9FFA-4A16-B8FA-7E099DDEAC52}"/>
              </a:ext>
            </a:extLst>
          </p:cNvPr>
          <p:cNvSpPr>
            <a:spLocks xmlns:a="http://schemas.openxmlformats.org/drawingml/2006/main" noGrp="1"/>
          </p:cNvSpPr>
          <p:nvPr/>
        </p:nvSpPr>
        <p:spPr>
          <a:xfrm xmlns:a="http://schemas.openxmlformats.org/drawingml/2006/main">
            <a:off x="11144250" y="62865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5C2D3"/>
                </a:solidFill>
                <a:latin typeface="DejaVu Sans"/>
                <a:ea typeface="DejaVu Sans"/>
                <a:cs typeface="DejaVu Sans"/>
              </a:defRPr>
            </a:pPr>
            <a:r>
              <a:rPr sz="1275" b="0">
                <a:solidFill>
                  <a:srgbClr val="B5C2D3"/>
                </a:solidFill>
                <a:latin typeface="DejaVu Sans"/>
                <a:ea typeface="DejaVu Sans"/>
                <a:cs typeface="DejaVu Sans"/>
              </a:rPr>
              <a:t>08</a:t>
            </a:r>
          </a:p>
        </p:txBody>
      </p:sp>
      <p:sp>
        <p:nvSpPr>
          <p:cNvPr id="3" name="">
            <a:extLst xmlns:a="http://schemas.openxmlformats.org/drawingml/2006/main">
              <a:ext uri="{FF2B5EF4-FFF2-40B4-BE49-F238E27FC236}">
                <a16:creationId xmlns:a16="http://schemas.microsoft.com/office/drawing/2014/main" id="{017D87F4-5048-44A7-BF94-A333F809E336}"/>
              </a:ext>
            </a:extLst>
          </p:cNvPr>
          <p:cNvSpPr>
            <a:spLocks xmlns:a="http://schemas.openxmlformats.org/drawingml/2006/main" noGrp="1"/>
          </p:cNvSpPr>
          <p:nvPr/>
        </p:nvSpPr>
        <p:spPr>
          <a:xfrm xmlns:a="http://schemas.openxmlformats.org/drawingml/2006/main">
            <a:off x="609600" y="1714500"/>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64E1DC"/>
                </a:solidFill>
                <a:latin typeface="DejaVu Sans"/>
                <a:ea typeface="DejaVu Sans"/>
                <a:cs typeface="DejaVu Sans"/>
              </a:defRPr>
            </a:pPr>
            <a:r>
              <a:rPr sz="2400" b="1">
                <a:solidFill>
                  <a:srgbClr val="64E1DC"/>
                </a:solidFill>
                <a:latin typeface="DejaVu Sans"/>
                <a:ea typeface="DejaVu Sans"/>
                <a:cs typeface="DejaVu Sans"/>
              </a:rPr>
              <a:t>Severity</a:t>
            </a:r>
          </a:p>
        </p:txBody>
      </p:sp>
      <p:sp>
        <p:nvSpPr>
          <p:cNvPr id="4" name="">
            <a:extLst xmlns:a="http://schemas.openxmlformats.org/drawingml/2006/main">
              <a:ext uri="{FF2B5EF4-FFF2-40B4-BE49-F238E27FC236}">
                <a16:creationId xmlns:a16="http://schemas.microsoft.com/office/drawing/2014/main" id="{738875F5-B2F9-491C-B0DF-94AA6D1C1C4F}"/>
              </a:ext>
            </a:extLst>
          </p:cNvPr>
          <p:cNvSpPr>
            <a:spLocks xmlns:a="http://schemas.openxmlformats.org/drawingml/2006/main" noGrp="1"/>
          </p:cNvSpPr>
          <p:nvPr/>
        </p:nvSpPr>
        <p:spPr>
          <a:xfrm xmlns:a="http://schemas.openxmlformats.org/drawingml/2006/main">
            <a:off x="609600" y="2286000"/>
            <a:ext cx="581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2F5FA"/>
                </a:solidFill>
                <a:latin typeface="DejaVu Sans"/>
                <a:ea typeface="DejaVu Sans"/>
                <a:cs typeface="DejaVu Sans"/>
              </a:defRPr>
            </a:pPr>
            <a:r>
              <a:rPr sz="2025" b="0">
                <a:solidFill>
                  <a:srgbClr val="F2F5FA"/>
                </a:solidFill>
                <a:latin typeface="DejaVu Sans"/>
                <a:ea typeface="DejaVu Sans"/>
                <a:cs typeface="DejaVu Sans"/>
              </a:rPr>
              <a:t>CVSS describes technical severity.</a:t>
            </a:r>
          </a:p>
        </p:txBody>
      </p:sp>
      <p:sp>
        <p:nvSpPr>
          <p:cNvPr id="5" name="">
            <a:extLst xmlns:a="http://schemas.openxmlformats.org/drawingml/2006/main">
              <a:ext uri="{FF2B5EF4-FFF2-40B4-BE49-F238E27FC236}">
                <a16:creationId xmlns:a16="http://schemas.microsoft.com/office/drawing/2014/main" id="{7FA67812-4949-4CE8-B448-1B1461DFD7E5}"/>
              </a:ext>
            </a:extLst>
          </p:cNvPr>
          <p:cNvSpPr>
            <a:spLocks xmlns:a="http://schemas.openxmlformats.org/drawingml/2006/main" noGrp="1"/>
          </p:cNvSpPr>
          <p:nvPr/>
        </p:nvSpPr>
        <p:spPr>
          <a:xfrm xmlns:a="http://schemas.openxmlformats.org/drawingml/2006/main">
            <a:off x="609600" y="3143250"/>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BE7A"/>
                </a:solidFill>
                <a:latin typeface="DejaVu Sans"/>
                <a:ea typeface="DejaVu Sans"/>
                <a:cs typeface="DejaVu Sans"/>
              </a:defRPr>
            </a:pPr>
            <a:r>
              <a:rPr sz="2400" b="1">
                <a:solidFill>
                  <a:srgbClr val="FFBE7A"/>
                </a:solidFill>
                <a:latin typeface="DejaVu Sans"/>
                <a:ea typeface="DejaVu Sans"/>
                <a:cs typeface="DejaVu Sans"/>
              </a:rPr>
              <a:t>Threat</a:t>
            </a:r>
          </a:p>
        </p:txBody>
      </p:sp>
      <p:sp>
        <p:nvSpPr>
          <p:cNvPr id="6" name="">
            <a:extLst xmlns:a="http://schemas.openxmlformats.org/drawingml/2006/main">
              <a:ext uri="{FF2B5EF4-FFF2-40B4-BE49-F238E27FC236}">
                <a16:creationId xmlns:a16="http://schemas.microsoft.com/office/drawing/2014/main" id="{C1622B03-777E-473B-9069-55CD388D8946}"/>
              </a:ext>
            </a:extLst>
          </p:cNvPr>
          <p:cNvSpPr>
            <a:spLocks xmlns:a="http://schemas.openxmlformats.org/drawingml/2006/main" noGrp="1"/>
          </p:cNvSpPr>
          <p:nvPr/>
        </p:nvSpPr>
        <p:spPr>
          <a:xfrm xmlns:a="http://schemas.openxmlformats.org/drawingml/2006/main">
            <a:off x="609600" y="3714750"/>
            <a:ext cx="600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2F5FA"/>
                </a:solidFill>
                <a:latin typeface="DejaVu Sans"/>
                <a:ea typeface="DejaVu Sans"/>
                <a:cs typeface="DejaVu Sans"/>
              </a:defRPr>
            </a:pPr>
            <a:r>
              <a:rPr sz="2025" b="0">
                <a:solidFill>
                  <a:srgbClr val="F2F5FA"/>
                </a:solidFill>
                <a:latin typeface="DejaVu Sans"/>
                <a:ea typeface="DejaVu Sans"/>
                <a:cs typeface="DejaVu Sans"/>
              </a:rPr>
              <a:t>KEV identifies known exploitation.</a:t>
            </a:r>
          </a:p>
          <a:p xmlns:a="http://schemas.openxmlformats.org/drawingml/2006/main">
            <a:pPr>
              <a:defRPr sz="2025" b="0">
                <a:solidFill>
                  <a:srgbClr val="F2F5FA"/>
                </a:solidFill>
                <a:latin typeface="DejaVu Sans"/>
                <a:ea typeface="DejaVu Sans"/>
                <a:cs typeface="DejaVu Sans"/>
              </a:defRPr>
            </a:pPr>
            <a:r>
              <a:rPr sz="2025" b="0">
                <a:solidFill>
                  <a:srgbClr val="F2F5FA"/>
                </a:solidFill>
                <a:latin typeface="DejaVu Sans"/>
                <a:ea typeface="DejaVu Sans"/>
                <a:cs typeface="DejaVu Sans"/>
              </a:rPr>
              <a:t>EPSS estimates exploitation likelihood.</a:t>
            </a:r>
          </a:p>
        </p:txBody>
      </p:sp>
      <p:sp>
        <p:nvSpPr>
          <p:cNvPr id="7" name="">
            <a:extLst xmlns:a="http://schemas.openxmlformats.org/drawingml/2006/main">
              <a:ext uri="{FF2B5EF4-FFF2-40B4-BE49-F238E27FC236}">
                <a16:creationId xmlns:a16="http://schemas.microsoft.com/office/drawing/2014/main" id="{CE7CA5F3-8C73-4723-8A2E-F293D25B1C81}"/>
              </a:ext>
            </a:extLst>
          </p:cNvPr>
          <p:cNvSpPr>
            <a:spLocks xmlns:a="http://schemas.openxmlformats.org/drawingml/2006/main" noGrp="1"/>
          </p:cNvSpPr>
          <p:nvPr/>
        </p:nvSpPr>
        <p:spPr>
          <a:xfrm xmlns:a="http://schemas.openxmlformats.org/drawingml/2006/main">
            <a:off x="609600" y="49053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B7A2FF"/>
                </a:solidFill>
                <a:latin typeface="DejaVu Sans"/>
                <a:ea typeface="DejaVu Sans"/>
                <a:cs typeface="DejaVu Sans"/>
              </a:defRPr>
            </a:pPr>
            <a:r>
              <a:rPr sz="2400" b="1">
                <a:solidFill>
                  <a:srgbClr val="B7A2FF"/>
                </a:solidFill>
                <a:latin typeface="DejaVu Sans"/>
                <a:ea typeface="DejaVu Sans"/>
                <a:cs typeface="DejaVu Sans"/>
              </a:rPr>
              <a:t>Business exposure</a:t>
            </a:r>
          </a:p>
        </p:txBody>
      </p:sp>
      <p:sp>
        <p:nvSpPr>
          <p:cNvPr id="8" name="">
            <a:extLst xmlns:a="http://schemas.openxmlformats.org/drawingml/2006/main">
              <a:ext uri="{FF2B5EF4-FFF2-40B4-BE49-F238E27FC236}">
                <a16:creationId xmlns:a16="http://schemas.microsoft.com/office/drawing/2014/main" id="{A36AE937-52BE-432A-A938-3DC45CBB3B4F}"/>
              </a:ext>
            </a:extLst>
          </p:cNvPr>
          <p:cNvSpPr>
            <a:spLocks xmlns:a="http://schemas.openxmlformats.org/drawingml/2006/main" noGrp="1"/>
          </p:cNvSpPr>
          <p:nvPr/>
        </p:nvSpPr>
        <p:spPr>
          <a:xfrm xmlns:a="http://schemas.openxmlformats.org/drawingml/2006/main">
            <a:off x="609600" y="5476875"/>
            <a:ext cx="619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2F5FA"/>
                </a:solidFill>
                <a:latin typeface="DejaVu Sans"/>
                <a:ea typeface="DejaVu Sans"/>
                <a:cs typeface="DejaVu Sans"/>
              </a:defRPr>
            </a:pPr>
            <a:r>
              <a:rPr sz="2025" b="0">
                <a:solidFill>
                  <a:srgbClr val="F2F5FA"/>
                </a:solidFill>
                <a:latin typeface="DejaVu Sans"/>
                <a:ea typeface="DejaVu Sans"/>
                <a:cs typeface="DejaVu Sans"/>
              </a:rPr>
              <a:t>Reachability, asset importance and controls</a:t>
            </a:r>
          </a:p>
          <a:p xmlns:a="http://schemas.openxmlformats.org/drawingml/2006/main">
            <a:pPr>
              <a:defRPr sz="2025" b="0">
                <a:solidFill>
                  <a:srgbClr val="F2F5FA"/>
                </a:solidFill>
                <a:latin typeface="DejaVu Sans"/>
                <a:ea typeface="DejaVu Sans"/>
                <a:cs typeface="DejaVu Sans"/>
              </a:defRPr>
            </a:pPr>
            <a:r>
              <a:rPr sz="2025" b="0">
                <a:solidFill>
                  <a:srgbClr val="F2F5FA"/>
                </a:solidFill>
                <a:latin typeface="DejaVu Sans"/>
                <a:ea typeface="DejaVu Sans"/>
                <a:cs typeface="DejaVu Sans"/>
              </a:rPr>
              <a:t>determine local urgency.</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a12b59482114e13"/>
          <a:stretch xmlns:a="http://schemas.openxmlformats.org/drawingml/2006/main"/>
        </p:blipFill>
        <p:spPr>
          <a:xfrm xmlns:a="http://schemas.openxmlformats.org/drawingml/2006/main">
            <a:off x="7334250" y="2035969"/>
            <a:ext cx="4095750" cy="3071813"/>
          </a:xfrm>
          <a:prstGeom xmlns:a="http://schemas.openxmlformats.org/drawingml/2006/main" prst="rect">
            <a:avLst/>
          </a:prstGeom>
        </p:spPr>
      </p:pic>
    </p:spTree>
    <p:extLst>
      <p:ext uri="{BB962C8B-B14F-4D97-AF65-F5344CB8AC3E}">
        <p14:creationId xmlns:p14="http://schemas.microsoft.com/office/powerpoint/2010/main" val="1479161224"/>
      </p:ext>
    </p:extLst>
  </p:cSld>
</p:sld>
</file>

<file path=ppt/slides/slide9.xml><?xml version="1.0" encoding="utf-8"?>
<p:sld xmlns:p="http://schemas.openxmlformats.org/presentationml/2006/main">
  <p:cSld>
    <p:bg>
      <p:bgPr>
        <a:solidFill xmlns:a="http://schemas.openxmlformats.org/drawingml/2006/main">
          <a:srgbClr val="10182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FE7B5C9-CBAC-47BA-B6A2-69E8AC6E257E}"/>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EA284072-8F0F-4A98-8F1B-7EAD99BBF73A}"/>
              </a:ext>
            </a:extLst>
          </p:cNvPr>
          <p:cNvSpPr>
            <a:spLocks xmlns:a="http://schemas.openxmlformats.org/drawingml/2006/main" noGrp="1"/>
          </p:cNvSpPr>
          <p:nvPr/>
        </p:nvSpPr>
        <p:spPr>
          <a:xfrm xmlns:a="http://schemas.openxmlformats.org/drawingml/2006/main">
            <a:off x="11144250" y="62865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5C2D3"/>
                </a:solidFill>
                <a:latin typeface="DejaVu Sans"/>
                <a:ea typeface="DejaVu Sans"/>
                <a:cs typeface="DejaVu Sans"/>
              </a:defRPr>
            </a:pPr>
            <a:r>
              <a:rPr sz="1275" b="0">
                <a:solidFill>
                  <a:srgbClr val="B5C2D3"/>
                </a:solidFill>
                <a:latin typeface="DejaVu Sans"/>
                <a:ea typeface="DejaVu Sans"/>
                <a:cs typeface="DejaVu Sans"/>
              </a:rPr>
              <a:t>09</a:t>
            </a:r>
          </a:p>
        </p:txBody>
      </p:sp>
      <p:sp>
        <p:nvSpPr>
          <p:cNvPr id="3" name="">
            <a:extLst xmlns:a="http://schemas.openxmlformats.org/drawingml/2006/main">
              <a:ext uri="{FF2B5EF4-FFF2-40B4-BE49-F238E27FC236}">
                <a16:creationId xmlns:a16="http://schemas.microsoft.com/office/drawing/2014/main" id="{0041EDF9-7984-4F69-8335-2D1E6031420E}"/>
              </a:ext>
            </a:extLst>
          </p:cNvPr>
          <p:cNvSpPr>
            <a:spLocks xmlns:a="http://schemas.openxmlformats.org/drawingml/2006/main" noGrp="1"/>
          </p:cNvSpPr>
          <p:nvPr/>
        </p:nvSpPr>
        <p:spPr>
          <a:xfrm xmlns:a="http://schemas.openxmlformats.org/drawingml/2006/main">
            <a:off x="609600" y="1619250"/>
            <a:ext cx="104775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F2F5FA"/>
                </a:solidFill>
                <a:latin typeface="DejaVu Sans"/>
                <a:ea typeface="DejaVu Sans"/>
                <a:cs typeface="DejaVu Sans"/>
              </a:defRPr>
            </a:pPr>
            <a:r>
              <a:rPr sz="5100" b="1">
                <a:solidFill>
                  <a:srgbClr val="F2F5FA"/>
                </a:solidFill>
                <a:latin typeface="DejaVu Sans"/>
                <a:ea typeface="DejaVu Sans"/>
                <a:cs typeface="DejaVu Sans"/>
              </a:rPr>
              <a:t>Post-Quantum</a:t>
            </a:r>
          </a:p>
          <a:p xmlns:a="http://schemas.openxmlformats.org/drawingml/2006/main">
            <a:pPr>
              <a:defRPr sz="5100" b="1">
                <a:solidFill>
                  <a:srgbClr val="F2F5FA"/>
                </a:solidFill>
                <a:latin typeface="DejaVu Sans"/>
                <a:ea typeface="DejaVu Sans"/>
                <a:cs typeface="DejaVu Sans"/>
              </a:defRPr>
            </a:pPr>
            <a:r>
              <a:rPr sz="5100" b="1">
                <a:solidFill>
                  <a:srgbClr val="F2F5FA"/>
                </a:solidFill>
                <a:latin typeface="DejaVu Sans"/>
                <a:ea typeface="DejaVu Sans"/>
                <a:cs typeface="DejaVu Sans"/>
              </a:rPr>
              <a:t>Cryptography</a:t>
            </a:r>
          </a:p>
        </p:txBody>
      </p:sp>
      <p:sp>
        <p:nvSpPr>
          <p:cNvPr id="4" name="">
            <a:extLst xmlns:a="http://schemas.openxmlformats.org/drawingml/2006/main">
              <a:ext uri="{FF2B5EF4-FFF2-40B4-BE49-F238E27FC236}">
                <a16:creationId xmlns:a16="http://schemas.microsoft.com/office/drawing/2014/main" id="{867D8B9B-CCD9-4C69-A1C4-015F3EE09F61}"/>
              </a:ext>
            </a:extLst>
          </p:cNvPr>
          <p:cNvSpPr>
            <a:spLocks xmlns:a="http://schemas.openxmlformats.org/drawingml/2006/main" noGrp="1"/>
          </p:cNvSpPr>
          <p:nvPr/>
        </p:nvSpPr>
        <p:spPr>
          <a:xfrm xmlns:a="http://schemas.openxmlformats.org/drawingml/2006/main">
            <a:off x="609600" y="42862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64E1DC"/>
                </a:solidFill>
                <a:latin typeface="DejaVu Sans"/>
                <a:ea typeface="DejaVu Sans"/>
                <a:cs typeface="DejaVu Sans"/>
              </a:defRPr>
            </a:pPr>
            <a:r>
              <a:rPr sz="2550" b="0">
                <a:solidFill>
                  <a:srgbClr val="64E1DC"/>
                </a:solidFill>
                <a:latin typeface="DejaVu Sans"/>
                <a:ea typeface="DejaVu Sans"/>
                <a:cs typeface="DejaVu Sans"/>
              </a:rPr>
              <a:t>Preparing for the cryptographic transition</a:t>
            </a:r>
          </a:p>
        </p:txBody>
      </p:sp>
      <p:sp>
        <p:nvSpPr>
          <p:cNvPr id="5" name="">
            <a:extLst xmlns:a="http://schemas.openxmlformats.org/drawingml/2006/main">
              <a:ext uri="{FF2B5EF4-FFF2-40B4-BE49-F238E27FC236}">
                <a16:creationId xmlns:a16="http://schemas.microsoft.com/office/drawing/2014/main" id="{1E198C20-9965-45DB-B681-2C84163B2559}"/>
              </a:ext>
            </a:extLst>
          </p:cNvPr>
          <p:cNvSpPr>
            <a:spLocks xmlns:a="http://schemas.openxmlformats.org/drawingml/2006/main" noGrp="1"/>
          </p:cNvSpPr>
          <p:nvPr/>
        </p:nvSpPr>
        <p:spPr>
          <a:xfrm xmlns:a="http://schemas.openxmlformats.org/drawingml/2006/main">
            <a:off x="609600" y="561975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5C2D3"/>
                </a:solidFill>
                <a:latin typeface="DejaVu Sans"/>
                <a:ea typeface="DejaVu Sans"/>
                <a:cs typeface="DejaVu Sans"/>
              </a:defRPr>
            </a:pPr>
            <a:r>
              <a:rPr sz="1800" b="0">
                <a:solidFill>
                  <a:srgbClr val="B5C2D3"/>
                </a:solidFill>
                <a:latin typeface="DejaVu Sans"/>
                <a:ea typeface="DejaVu Sans"/>
                <a:cs typeface="DejaVu Sans"/>
              </a:rPr>
              <a:t>Next section</a:t>
            </a:r>
          </a:p>
        </p:txBody>
      </p:sp>
    </p:spTree>
    <p:extLst>
      <p:ext uri="{BB962C8B-B14F-4D97-AF65-F5344CB8AC3E}">
        <p14:creationId xmlns:p14="http://schemas.microsoft.com/office/powerpoint/2010/main" val="6259098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2026-10-01T12:45:58.8550000Z</dcterms:created>
  <dcterms:modified xsi:type="dcterms:W3CDTF">2026-10-01T12:45:58.8560000Z</dcterms:modified>
</coreProperties>
</file>